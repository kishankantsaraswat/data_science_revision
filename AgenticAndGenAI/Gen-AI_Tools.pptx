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51"/>
    <p:restoredTop sz="94682"/>
  </p:normalViewPr>
  <p:slideViewPr>
    <p:cSldViewPr snapToGrid="0">
      <p:cViewPr varScale="1">
        <p:scale>
          <a:sx n="111" d="100"/>
          <a:sy n="111" d="100"/>
        </p:scale>
        <p:origin x="87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215D-5B4E-E1D1-97C6-DA223F632B0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5AD2E71-B602-154C-4902-108247ABA6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1A6FE3E-59DA-E1E1-F5C3-9EF54B7267F9}"/>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608282A5-7C0B-9DD2-4E20-B7CCDF99D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48A91-0099-BCA7-3A45-CB1279BAD0E7}"/>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3476583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93D6-5E53-45CC-B5E8-1751A850D23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05AB91-CAFB-6A9C-2B9B-905A84BC15D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977A57-081E-8DB7-AADB-CA57E18452E9}"/>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CEB02D91-250F-0031-CD53-20F3E650F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0DB84-92C0-2F26-2329-B30288B3789F}"/>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59789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F3E4-250F-810E-63C3-CCA6B037257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B45AC5C-132B-5D30-BEE3-1B04412EA2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6161423-1D4B-A42E-2090-B1610F257F56}"/>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045770FE-3D4F-5DD6-A578-F2B0318B30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AB0895-1AFC-980D-6220-D110308B02C5}"/>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850849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B21EA-0B3F-88E7-8AB1-841D8FBE3E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144940-6800-1E67-EEEE-A3871C086F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9248574-6FD6-514E-3898-442F966D75D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7C7355E-16E2-F4F6-B718-D7084A5AE935}"/>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6" name="Footer Placeholder 5">
            <a:extLst>
              <a:ext uri="{FF2B5EF4-FFF2-40B4-BE49-F238E27FC236}">
                <a16:creationId xmlns:a16="http://schemas.microsoft.com/office/drawing/2014/main" id="{7975000E-094D-D2EC-8D24-396DC96C23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1F1731-3B49-D6F2-768B-24CA533A2345}"/>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193262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1F0D-54AF-DD0C-735C-61DAEDF84CA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FEBC822-7909-819A-88AD-4D474FE923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7EBE716-6BE2-F9C5-B785-0BD72C43257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5ABF6E-DA04-8EDD-66F1-CBDE0BC171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63EBE5-63DD-5255-678C-0901C8B3ABB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5DF377F-C79B-19AF-71B1-DF1F2D7152CE}"/>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8" name="Footer Placeholder 7">
            <a:extLst>
              <a:ext uri="{FF2B5EF4-FFF2-40B4-BE49-F238E27FC236}">
                <a16:creationId xmlns:a16="http://schemas.microsoft.com/office/drawing/2014/main" id="{9B1C230E-CB94-37BC-DBDC-77AF307EF1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E69A0C-8F4D-9B32-F713-7782CD055EA8}"/>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655961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BE0A-993C-D650-5DBA-2442152837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264C893-24E3-7E31-3C3F-CB0B3ACB4B0F}"/>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4" name="Footer Placeholder 3">
            <a:extLst>
              <a:ext uri="{FF2B5EF4-FFF2-40B4-BE49-F238E27FC236}">
                <a16:creationId xmlns:a16="http://schemas.microsoft.com/office/drawing/2014/main" id="{F2A1C190-9016-FE19-DBAF-45F2704F96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2C2C26-E817-AFAD-6632-1167A553BD42}"/>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125258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3C6BE4-BCEE-18B0-52C5-4E28CAA777A8}"/>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3" name="Footer Placeholder 2">
            <a:extLst>
              <a:ext uri="{FF2B5EF4-FFF2-40B4-BE49-F238E27FC236}">
                <a16:creationId xmlns:a16="http://schemas.microsoft.com/office/drawing/2014/main" id="{DB512DFA-3627-C53C-C707-00BEBE6B4B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0238C9-245F-C18C-BC6E-048741750A8D}"/>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3260125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FD795-DF43-08BF-F220-22332D305F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4318EE7-A5F7-A0AE-16B3-8543B66F73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7AA04BB-225A-5C4F-60BD-83E34DDDF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9C212CF-FE39-D01E-5028-6F8E0AD08C7D}"/>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6" name="Footer Placeholder 5">
            <a:extLst>
              <a:ext uri="{FF2B5EF4-FFF2-40B4-BE49-F238E27FC236}">
                <a16:creationId xmlns:a16="http://schemas.microsoft.com/office/drawing/2014/main" id="{4A44B845-FE61-FB99-E4B0-CF59EBC6A2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115CE4-1B96-C960-50F0-C35B902398F4}"/>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83508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04AEC-7E34-E0BC-C217-41F1EF4C3C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9D4598D-589F-6532-0EB3-68CCABB6B8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45E6C0-63BD-784B-39BF-7C49367AEA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048F503-8358-FBAF-0C1A-C4E61E60256A}"/>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6" name="Footer Placeholder 5">
            <a:extLst>
              <a:ext uri="{FF2B5EF4-FFF2-40B4-BE49-F238E27FC236}">
                <a16:creationId xmlns:a16="http://schemas.microsoft.com/office/drawing/2014/main" id="{FFDC5147-B1FB-ABD0-701A-1B416DEF44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365706-7C4F-66F0-9CC2-EC02B287AE09}"/>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3569996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2100-1ADB-2C5E-1DFF-69D93F7E00C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33E464-DB58-673B-6CC4-EFB9508493F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E15170-20CC-9981-33EA-E4FB60377DDA}"/>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74FE95FF-5506-9009-FF5B-5EFAE4BB6F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C638C-8DDC-B376-B6BA-43E54B60CD46}"/>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1139861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79ECBA-5B18-2E90-0A0E-902F614FCBE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62F8F5-1A93-1876-DAA1-51F76CD191D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EBD31B-6944-7D90-0F16-C85D4687A2CA}"/>
              </a:ext>
            </a:extLst>
          </p:cNvPr>
          <p:cNvSpPr>
            <a:spLocks noGrp="1"/>
          </p:cNvSpPr>
          <p:nvPr>
            <p:ph type="dt" sz="half" idx="10"/>
          </p:nvPr>
        </p:nvSpPr>
        <p:spPr/>
        <p:txBody>
          <a:body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AB873E34-4937-99CF-27D0-6419A043A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33BDA-7127-8089-66EC-894ACB2E5C78}"/>
              </a:ext>
            </a:extLst>
          </p:cNvPr>
          <p:cNvSpPr>
            <a:spLocks noGrp="1"/>
          </p:cNvSpPr>
          <p:nvPr>
            <p:ph type="sldNum" sz="quarter" idx="12"/>
          </p:nvPr>
        </p:nvSpPr>
        <p:spPr/>
        <p:txBody>
          <a:bodyPr/>
          <a:lstStyle/>
          <a:p>
            <a:fld id="{1A0474E6-09EA-CB4F-9689-82F695795BC7}" type="slidenum">
              <a:rPr lang="en-US" smtClean="0"/>
              <a:t>‹#›</a:t>
            </a:fld>
            <a:endParaRPr lang="en-US"/>
          </a:p>
        </p:txBody>
      </p:sp>
    </p:spTree>
    <p:extLst>
      <p:ext uri="{BB962C8B-B14F-4D97-AF65-F5344CB8AC3E}">
        <p14:creationId xmlns:p14="http://schemas.microsoft.com/office/powerpoint/2010/main" val="3662872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6B035-27EC-FF24-91EE-11192A2926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BA238BA-DE03-1DA9-9952-B97F1F9535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2BBBA3-DEF9-E93A-56D3-5A387EFAF7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C104F6-4EAA-4E48-A678-F98D795BB794}" type="datetimeFigureOut">
              <a:rPr lang="en-US" smtClean="0"/>
              <a:t>6/2/24</a:t>
            </a:fld>
            <a:endParaRPr lang="en-US"/>
          </a:p>
        </p:txBody>
      </p:sp>
      <p:sp>
        <p:nvSpPr>
          <p:cNvPr id="5" name="Footer Placeholder 4">
            <a:extLst>
              <a:ext uri="{FF2B5EF4-FFF2-40B4-BE49-F238E27FC236}">
                <a16:creationId xmlns:a16="http://schemas.microsoft.com/office/drawing/2014/main" id="{1888545F-CAD4-16FB-5031-1D4BBE2C7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8AE723-BAC0-667F-BED7-180B3917F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0474E6-09EA-CB4F-9689-82F695795BC7}" type="slidenum">
              <a:rPr lang="en-US" smtClean="0"/>
              <a:t>‹#›</a:t>
            </a:fld>
            <a:endParaRPr lang="en-US"/>
          </a:p>
        </p:txBody>
      </p:sp>
    </p:spTree>
    <p:extLst>
      <p:ext uri="{BB962C8B-B14F-4D97-AF65-F5344CB8AC3E}">
        <p14:creationId xmlns:p14="http://schemas.microsoft.com/office/powerpoint/2010/main" val="4225789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Slide Background Fill">
            <a:extLst>
              <a:ext uri="{FF2B5EF4-FFF2-40B4-BE49-F238E27FC236}">
                <a16:creationId xmlns:a16="http://schemas.microsoft.com/office/drawing/2014/main" id="{C04DA1FE-EBEF-4AF3-A3C6-067C78D4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fill">
            <a:extLst>
              <a:ext uri="{FF2B5EF4-FFF2-40B4-BE49-F238E27FC236}">
                <a16:creationId xmlns:a16="http://schemas.microsoft.com/office/drawing/2014/main" id="{8B1B3E66-23F5-436C-A0C1-32A666D28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4"/>
            <a:ext cx="12188949"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6CF92B56-C442-68F1-7FBB-C8897D448C5D}"/>
              </a:ext>
            </a:extLst>
          </p:cNvPr>
          <p:cNvPicPr>
            <a:picLocks noChangeAspect="1"/>
          </p:cNvPicPr>
          <p:nvPr/>
        </p:nvPicPr>
        <p:blipFill rotWithShape="1">
          <a:blip r:embed="rId2">
            <a:alphaModFix amt="31000"/>
          </a:blip>
          <a:srcRect t="29688"/>
          <a:stretch/>
        </p:blipFill>
        <p:spPr>
          <a:xfrm>
            <a:off x="3048" y="14767"/>
            <a:ext cx="12192001" cy="6858000"/>
          </a:xfrm>
          <a:prstGeom prst="rect">
            <a:avLst/>
          </a:prstGeom>
        </p:spPr>
      </p:pic>
      <p:grpSp>
        <p:nvGrpSpPr>
          <p:cNvPr id="15" name="Group 14">
            <a:extLst>
              <a:ext uri="{FF2B5EF4-FFF2-40B4-BE49-F238E27FC236}">
                <a16:creationId xmlns:a16="http://schemas.microsoft.com/office/drawing/2014/main" id="{28EC230A-A12C-4339-92EE-F850809ECE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16" name="Freeform: Shape 15">
              <a:extLst>
                <a:ext uri="{FF2B5EF4-FFF2-40B4-BE49-F238E27FC236}">
                  <a16:creationId xmlns:a16="http://schemas.microsoft.com/office/drawing/2014/main" id="{99266DA8-A1F2-4B9F-AD49-F0F4270B5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85EAE53-C456-4300-BEA6-3AF8CC0F5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31E0EBD-0F61-4DE9-9397-8E5362071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00BA56C-1B81-460E-96B4-6E0DDE6778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F84DEAC-B1F0-4AAF-9532-1F93B473F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E9BF985-74AA-43F0-A812-F4CD338417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A31C745-2F56-4B25-8616-92358DAFA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F46316-2E22-5819-0EEF-807DB87C37BD}"/>
              </a:ext>
            </a:extLst>
          </p:cNvPr>
          <p:cNvSpPr>
            <a:spLocks noGrp="1"/>
          </p:cNvSpPr>
          <p:nvPr>
            <p:ph type="ctrTitle"/>
          </p:nvPr>
        </p:nvSpPr>
        <p:spPr>
          <a:xfrm>
            <a:off x="789708" y="666352"/>
            <a:ext cx="10558405" cy="3039374"/>
          </a:xfrm>
        </p:spPr>
        <p:txBody>
          <a:bodyPr anchor="b">
            <a:normAutofit/>
          </a:bodyPr>
          <a:lstStyle/>
          <a:p>
            <a:r>
              <a:rPr lang="en-US" sz="4800" dirty="0">
                <a:solidFill>
                  <a:schemeClr val="bg1"/>
                </a:solidFill>
              </a:rPr>
              <a:t>Gen AI </a:t>
            </a:r>
          </a:p>
        </p:txBody>
      </p:sp>
      <p:sp>
        <p:nvSpPr>
          <p:cNvPr id="3" name="Subtitle 2">
            <a:extLst>
              <a:ext uri="{FF2B5EF4-FFF2-40B4-BE49-F238E27FC236}">
                <a16:creationId xmlns:a16="http://schemas.microsoft.com/office/drawing/2014/main" id="{36014570-81EA-3312-8451-6AF7C14E502E}"/>
              </a:ext>
            </a:extLst>
          </p:cNvPr>
          <p:cNvSpPr>
            <a:spLocks noGrp="1"/>
          </p:cNvSpPr>
          <p:nvPr>
            <p:ph type="subTitle" idx="1"/>
          </p:nvPr>
        </p:nvSpPr>
        <p:spPr>
          <a:xfrm>
            <a:off x="811650" y="3812005"/>
            <a:ext cx="10536463" cy="2288544"/>
          </a:xfrm>
        </p:spPr>
        <p:txBody>
          <a:bodyPr anchor="t">
            <a:normAutofit/>
          </a:bodyPr>
          <a:lstStyle/>
          <a:p>
            <a:r>
              <a:rPr lang="en-US">
                <a:solidFill>
                  <a:schemeClr val="bg1"/>
                </a:solidFill>
              </a:rPr>
              <a:t>Tools and Collaborations</a:t>
            </a:r>
          </a:p>
        </p:txBody>
      </p:sp>
    </p:spTree>
    <p:extLst>
      <p:ext uri="{BB962C8B-B14F-4D97-AF65-F5344CB8AC3E}">
        <p14:creationId xmlns:p14="http://schemas.microsoft.com/office/powerpoint/2010/main" val="30430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4C6A795-65EA-0853-76F5-BB55D938BFC5}"/>
              </a:ext>
            </a:extLst>
          </p:cNvPr>
          <p:cNvSpPr>
            <a:spLocks noGrp="1"/>
          </p:cNvSpPr>
          <p:nvPr>
            <p:ph type="title"/>
          </p:nvPr>
        </p:nvSpPr>
        <p:spPr>
          <a:xfrm>
            <a:off x="640080" y="1243013"/>
            <a:ext cx="3855720" cy="4371974"/>
          </a:xfrm>
        </p:spPr>
        <p:txBody>
          <a:bodyPr>
            <a:normAutofit/>
          </a:bodyPr>
          <a:lstStyle/>
          <a:p>
            <a:r>
              <a:rPr lang="en-US" sz="3600" b="1" dirty="0">
                <a:solidFill>
                  <a:schemeClr val="tx2"/>
                </a:solidFill>
                <a:cs typeface="Futura Condensed ExtraBold" panose="020B0602020204020303" pitchFamily="34" charset="-79"/>
              </a:rPr>
              <a:t>WHY GEN AI?</a:t>
            </a:r>
          </a:p>
        </p:txBody>
      </p:sp>
      <p:sp>
        <p:nvSpPr>
          <p:cNvPr id="3" name="Content Placeholder 2">
            <a:extLst>
              <a:ext uri="{FF2B5EF4-FFF2-40B4-BE49-F238E27FC236}">
                <a16:creationId xmlns:a16="http://schemas.microsoft.com/office/drawing/2014/main" id="{B1CD4739-025E-0399-4A31-4BFBFBC9EBE5}"/>
              </a:ext>
            </a:extLst>
          </p:cNvPr>
          <p:cNvSpPr>
            <a:spLocks noGrp="1"/>
          </p:cNvSpPr>
          <p:nvPr>
            <p:ph idx="1"/>
          </p:nvPr>
        </p:nvSpPr>
        <p:spPr>
          <a:xfrm>
            <a:off x="6172200" y="804672"/>
            <a:ext cx="5221224" cy="5230368"/>
          </a:xfrm>
        </p:spPr>
        <p:txBody>
          <a:bodyPr anchor="ctr">
            <a:normAutofit/>
          </a:bodyPr>
          <a:lstStyle/>
          <a:p>
            <a:r>
              <a:rPr lang="en-IN" sz="1800" u="none" strike="noStrike" dirty="0">
                <a:solidFill>
                  <a:schemeClr val="tx2"/>
                </a:solidFill>
                <a:effectLst/>
                <a:latin typeface="Futura Condensed Medium" panose="020B0602020204020303" pitchFamily="34" charset="-79"/>
                <a:cs typeface="Futura Condensed Medium" panose="020B0602020204020303" pitchFamily="34" charset="-79"/>
              </a:rPr>
              <a:t>Generative AI is a rapidly evolving field with vast potential across various industries, offering innovative ways to create and interact with content. By understanding and leveraging these models, businesses and individuals can unlock new possibilities for creativity, efficiency, and user engagement.</a:t>
            </a:r>
          </a:p>
          <a:p>
            <a:endParaRPr lang="en-US" sz="1800" dirty="0">
              <a:solidFill>
                <a:schemeClr val="tx2"/>
              </a:solidFill>
              <a:latin typeface="Futura Condensed Medium" panose="020B0602020204020303" pitchFamily="34" charset="-79"/>
              <a:cs typeface="Futura Condensed Medium" panose="020B0602020204020303" pitchFamily="34" charset="-79"/>
            </a:endParaRPr>
          </a:p>
        </p:txBody>
      </p:sp>
    </p:spTree>
    <p:extLst>
      <p:ext uri="{BB962C8B-B14F-4D97-AF65-F5344CB8AC3E}">
        <p14:creationId xmlns:p14="http://schemas.microsoft.com/office/powerpoint/2010/main" val="1852328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6DAD7-03FB-BA37-29A3-D19E183FEDBC}"/>
              </a:ext>
            </a:extLst>
          </p:cNvPr>
          <p:cNvSpPr>
            <a:spLocks noGrp="1"/>
          </p:cNvSpPr>
          <p:nvPr>
            <p:ph type="title"/>
          </p:nvPr>
        </p:nvSpPr>
        <p:spPr>
          <a:xfrm>
            <a:off x="761803" y="350196"/>
            <a:ext cx="4646904" cy="1624520"/>
          </a:xfrm>
        </p:spPr>
        <p:txBody>
          <a:bodyPr anchor="ctr">
            <a:normAutofit/>
          </a:bodyPr>
          <a:lstStyle/>
          <a:p>
            <a:r>
              <a:rPr lang="en-US" sz="3200" dirty="0"/>
              <a:t>COMPONENTS OF GEN AI</a:t>
            </a:r>
          </a:p>
        </p:txBody>
      </p:sp>
      <p:sp>
        <p:nvSpPr>
          <p:cNvPr id="3" name="Content Placeholder 2">
            <a:extLst>
              <a:ext uri="{FF2B5EF4-FFF2-40B4-BE49-F238E27FC236}">
                <a16:creationId xmlns:a16="http://schemas.microsoft.com/office/drawing/2014/main" id="{3D6213D1-3718-5ABD-5CB1-DE8B28953A09}"/>
              </a:ext>
            </a:extLst>
          </p:cNvPr>
          <p:cNvSpPr>
            <a:spLocks noGrp="1"/>
          </p:cNvSpPr>
          <p:nvPr>
            <p:ph idx="1"/>
          </p:nvPr>
        </p:nvSpPr>
        <p:spPr>
          <a:xfrm>
            <a:off x="761802" y="2743200"/>
            <a:ext cx="4646905" cy="3613149"/>
          </a:xfrm>
        </p:spPr>
        <p:txBody>
          <a:bodyPr anchor="ctr">
            <a:normAutofit/>
          </a:bodyPr>
          <a:lstStyle/>
          <a:p>
            <a:r>
              <a:rPr lang="en-IN" sz="1700" b="1" i="0" u="none" strike="noStrike" dirty="0">
                <a:effectLst/>
              </a:rPr>
              <a:t>Generative Models</a:t>
            </a:r>
            <a:r>
              <a:rPr lang="en-IN" sz="1700" b="0" i="0" u="none" strike="noStrike" dirty="0">
                <a:effectLst/>
              </a:rPr>
              <a:t>: These are the core of generative AI. They learn the distribution of the training data and can generate new data points that resemble the training set. Common generative models include:</a:t>
            </a:r>
          </a:p>
          <a:p>
            <a:pPr>
              <a:buFont typeface="Arial" panose="020B0604020202020204" pitchFamily="34" charset="0"/>
              <a:buChar char="•"/>
            </a:pPr>
            <a:r>
              <a:rPr lang="en-IN" sz="1700" b="1" i="0" u="none" strike="noStrike" dirty="0">
                <a:effectLst/>
              </a:rPr>
              <a:t>Generative Adversarial Networks (GANs)</a:t>
            </a:r>
            <a:r>
              <a:rPr lang="en-IN" sz="1700" b="0" i="0" u="none" strike="noStrike" dirty="0">
                <a:effectLst/>
              </a:rPr>
              <a:t>: highly realistic data.</a:t>
            </a:r>
          </a:p>
          <a:p>
            <a:pPr>
              <a:buFont typeface="Arial" panose="020B0604020202020204" pitchFamily="34" charset="0"/>
              <a:buChar char="•"/>
            </a:pPr>
            <a:r>
              <a:rPr lang="en-IN" sz="1700" b="1" i="0" u="none" strike="noStrike" dirty="0">
                <a:effectLst/>
              </a:rPr>
              <a:t>Variational Autoencoders (VAEs)</a:t>
            </a:r>
            <a:r>
              <a:rPr lang="en-IN" sz="1700" b="0" i="0" u="none" strike="noStrike" dirty="0">
                <a:effectLst/>
              </a:rPr>
              <a:t>: Encode input data into a latent space and then decode it back to generate new data. </a:t>
            </a:r>
            <a:r>
              <a:rPr lang="en-IN" sz="1700" b="1" i="0" u="none" strike="noStrike" dirty="0">
                <a:effectLst/>
              </a:rPr>
              <a:t>Transformers</a:t>
            </a:r>
            <a:r>
              <a:rPr lang="en-IN" sz="1700" b="0" i="0" u="none" strike="noStrike" dirty="0">
                <a:effectLst/>
              </a:rPr>
              <a:t>: (e.g., GPT-3) are designed to predict the next word in a sentence.</a:t>
            </a:r>
            <a:endParaRPr lang="en-US" sz="1700" dirty="0"/>
          </a:p>
        </p:txBody>
      </p:sp>
      <p:pic>
        <p:nvPicPr>
          <p:cNvPr id="5" name="Picture 4" descr="A robot with human face">
            <a:extLst>
              <a:ext uri="{FF2B5EF4-FFF2-40B4-BE49-F238E27FC236}">
                <a16:creationId xmlns:a16="http://schemas.microsoft.com/office/drawing/2014/main" id="{1DA135A7-A227-9E09-CC05-74C057942910}"/>
              </a:ext>
            </a:extLst>
          </p:cNvPr>
          <p:cNvPicPr>
            <a:picLocks noChangeAspect="1"/>
          </p:cNvPicPr>
          <p:nvPr/>
        </p:nvPicPr>
        <p:blipFill rotWithShape="1">
          <a:blip r:embed="rId2"/>
          <a:srcRect l="17246" r="23353" b="-2"/>
          <a:stretch/>
        </p:blipFill>
        <p:spPr>
          <a:xfrm>
            <a:off x="6096000" y="1"/>
            <a:ext cx="6102825" cy="6858000"/>
          </a:xfrm>
          <a:prstGeom prst="rect">
            <a:avLst/>
          </a:prstGeom>
        </p:spPr>
      </p:pic>
    </p:spTree>
    <p:extLst>
      <p:ext uri="{BB962C8B-B14F-4D97-AF65-F5344CB8AC3E}">
        <p14:creationId xmlns:p14="http://schemas.microsoft.com/office/powerpoint/2010/main" val="1448313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9A1F1C-F85F-4B65-0552-11D38E2A96F6}"/>
              </a:ext>
            </a:extLst>
          </p:cNvPr>
          <p:cNvSpPr>
            <a:spLocks noGrp="1"/>
          </p:cNvSpPr>
          <p:nvPr>
            <p:ph type="title"/>
          </p:nvPr>
        </p:nvSpPr>
        <p:spPr>
          <a:xfrm>
            <a:off x="4553733" y="548464"/>
            <a:ext cx="6798541" cy="1675623"/>
          </a:xfrm>
        </p:spPr>
        <p:txBody>
          <a:bodyPr anchor="b">
            <a:normAutofit/>
          </a:bodyPr>
          <a:lstStyle/>
          <a:p>
            <a:r>
              <a:rPr lang="en-US" sz="3200" dirty="0"/>
              <a:t>UNDERSTANDING GEN AI TOOLS</a:t>
            </a:r>
          </a:p>
        </p:txBody>
      </p:sp>
      <p:pic>
        <p:nvPicPr>
          <p:cNvPr id="5" name="Picture 4">
            <a:extLst>
              <a:ext uri="{FF2B5EF4-FFF2-40B4-BE49-F238E27FC236}">
                <a16:creationId xmlns:a16="http://schemas.microsoft.com/office/drawing/2014/main" id="{F20D89E0-5B1D-05E7-B4B7-30C7DB93C7AA}"/>
              </a:ext>
            </a:extLst>
          </p:cNvPr>
          <p:cNvPicPr>
            <a:picLocks noChangeAspect="1"/>
          </p:cNvPicPr>
          <p:nvPr/>
        </p:nvPicPr>
        <p:blipFill rotWithShape="1">
          <a:blip r:embed="rId2"/>
          <a:srcRect l="16068" r="49512"/>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D2EEB224-A861-EFA5-EE90-A234544FB73D}"/>
              </a:ext>
            </a:extLst>
          </p:cNvPr>
          <p:cNvSpPr>
            <a:spLocks noGrp="1"/>
          </p:cNvSpPr>
          <p:nvPr>
            <p:ph idx="1"/>
          </p:nvPr>
        </p:nvSpPr>
        <p:spPr>
          <a:xfrm>
            <a:off x="4553734" y="2409830"/>
            <a:ext cx="6798539" cy="3705217"/>
          </a:xfrm>
        </p:spPr>
        <p:txBody>
          <a:bodyPr>
            <a:normAutofit/>
          </a:bodyPr>
          <a:lstStyle/>
          <a:p>
            <a:r>
              <a:rPr lang="en-IN" sz="1400" b="0" i="0" u="none" strike="noStrike" dirty="0">
                <a:effectLst/>
              </a:rPr>
              <a:t>Generative AI refers to algorithms that can create new content, such as text, images, music, and even code, based on the data they have been trained on. These tools often use deep learning techniques, particularly generative adversarial networks (GANs) and transformers, to produce new data.</a:t>
            </a:r>
          </a:p>
          <a:p>
            <a:pPr>
              <a:buFont typeface="+mj-lt"/>
              <a:buAutoNum type="arabicPeriod"/>
            </a:pPr>
            <a:r>
              <a:rPr lang="en-IN" sz="1400" b="1" i="0" u="none" strike="noStrike" dirty="0">
                <a:effectLst/>
              </a:rPr>
              <a:t>Generative Adversarial Networks (GANs)</a:t>
            </a:r>
            <a:r>
              <a:rPr lang="en-IN" sz="1400" b="0" i="0" u="none" strike="noStrike" dirty="0">
                <a:effectLst/>
              </a:rPr>
              <a:t>:</a:t>
            </a:r>
          </a:p>
          <a:p>
            <a:pPr marL="742950" lvl="1" indent="-285750">
              <a:buFont typeface="+mj-lt"/>
              <a:buAutoNum type="arabicPeriod"/>
            </a:pPr>
            <a:r>
              <a:rPr lang="en-IN" sz="1400" b="1" i="0" u="none" strike="noStrike" dirty="0">
                <a:effectLst/>
              </a:rPr>
              <a:t>Structure</a:t>
            </a:r>
            <a:r>
              <a:rPr lang="en-IN" sz="1400" b="0" i="0" u="none" strike="noStrike" dirty="0">
                <a:effectLst/>
              </a:rPr>
              <a:t>: Comprises two neural networks, a generator and a discriminator, that are trained simultaneously. The generator creates data, while the discriminator evaluates it.</a:t>
            </a:r>
          </a:p>
          <a:p>
            <a:pPr marL="742950" lvl="1" indent="-285750">
              <a:buFont typeface="+mj-lt"/>
              <a:buAutoNum type="arabicPeriod"/>
            </a:pPr>
            <a:r>
              <a:rPr lang="en-IN" sz="1400" b="1" i="0" u="none" strike="noStrike" dirty="0">
                <a:effectLst/>
              </a:rPr>
              <a:t>Use Cases</a:t>
            </a:r>
            <a:r>
              <a:rPr lang="en-IN" sz="1400" b="0" i="0" u="none" strike="noStrike" dirty="0">
                <a:effectLst/>
              </a:rPr>
              <a:t>: Image generation, video creation, and data augmentation.</a:t>
            </a:r>
          </a:p>
          <a:p>
            <a:pPr>
              <a:buFont typeface="+mj-lt"/>
              <a:buAutoNum type="arabicPeriod"/>
            </a:pPr>
            <a:r>
              <a:rPr lang="en-IN" sz="1400" b="1" i="0" u="none" strike="noStrike" dirty="0">
                <a:effectLst/>
              </a:rPr>
              <a:t>Transformers</a:t>
            </a:r>
            <a:r>
              <a:rPr lang="en-IN" sz="1400" b="0" i="0" u="none" strike="noStrike" dirty="0">
                <a:effectLst/>
              </a:rPr>
              <a:t>:</a:t>
            </a:r>
          </a:p>
          <a:p>
            <a:pPr marL="742950" lvl="1" indent="-285750">
              <a:buFont typeface="+mj-lt"/>
              <a:buAutoNum type="arabicPeriod"/>
            </a:pPr>
            <a:r>
              <a:rPr lang="en-IN" sz="1400" b="1" i="0" u="none" strike="noStrike" dirty="0">
                <a:effectLst/>
              </a:rPr>
              <a:t>Structure</a:t>
            </a:r>
            <a:r>
              <a:rPr lang="en-IN" sz="1400" b="0" i="0" u="none" strike="noStrike" dirty="0">
                <a:effectLst/>
              </a:rPr>
              <a:t>: self-attention mechanisms </a:t>
            </a:r>
            <a:r>
              <a:rPr lang="en-IN" sz="1400" dirty="0"/>
              <a:t>- </a:t>
            </a:r>
            <a:r>
              <a:rPr lang="en-IN" sz="1400" b="0" i="0" u="none" strike="noStrike" dirty="0">
                <a:effectLst/>
              </a:rPr>
              <a:t>GPT (Generative Pre-trained Transformer) and BERT (Bidirectional Encoder Representations from Transformers).</a:t>
            </a:r>
          </a:p>
          <a:p>
            <a:pPr marL="742950" lvl="1" indent="-285750">
              <a:buFont typeface="+mj-lt"/>
              <a:buAutoNum type="arabicPeriod"/>
            </a:pPr>
            <a:r>
              <a:rPr lang="en-IN" sz="1400" b="1" i="0" u="none" strike="noStrike" dirty="0">
                <a:effectLst/>
              </a:rPr>
              <a:t>Use Cases</a:t>
            </a:r>
            <a:r>
              <a:rPr lang="en-IN" sz="1400" b="0" i="0" u="none" strike="noStrike" dirty="0">
                <a:effectLst/>
              </a:rPr>
              <a:t>: Text generation, translation, summarization, and more.</a:t>
            </a:r>
          </a:p>
          <a:p>
            <a:endParaRPr lang="en-US" sz="1400" dirty="0"/>
          </a:p>
        </p:txBody>
      </p:sp>
    </p:spTree>
    <p:extLst>
      <p:ext uri="{BB962C8B-B14F-4D97-AF65-F5344CB8AC3E}">
        <p14:creationId xmlns:p14="http://schemas.microsoft.com/office/powerpoint/2010/main" val="159436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id="{13E6C2FE-730F-AFA2-5F46-F31D0C43980A}"/>
              </a:ext>
            </a:extLst>
          </p:cNvPr>
          <p:cNvPicPr>
            <a:picLocks noChangeAspect="1"/>
          </p:cNvPicPr>
          <p:nvPr/>
        </p:nvPicPr>
        <p:blipFill rotWithShape="1">
          <a:blip r:embed="rId2">
            <a:alphaModFix amt="35000"/>
          </a:blip>
          <a:srcRect t="14657" b="10343"/>
          <a:stretch/>
        </p:blipFill>
        <p:spPr>
          <a:xfrm>
            <a:off x="20" y="10"/>
            <a:ext cx="12191979" cy="6857990"/>
          </a:xfrm>
          <a:prstGeom prst="rect">
            <a:avLst/>
          </a:prstGeom>
        </p:spPr>
      </p:pic>
      <p:sp>
        <p:nvSpPr>
          <p:cNvPr id="2" name="Title 1">
            <a:extLst>
              <a:ext uri="{FF2B5EF4-FFF2-40B4-BE49-F238E27FC236}">
                <a16:creationId xmlns:a16="http://schemas.microsoft.com/office/drawing/2014/main" id="{B5C27804-4E7C-41BE-A8F8-2ADE4D9573B0}"/>
              </a:ext>
            </a:extLst>
          </p:cNvPr>
          <p:cNvSpPr>
            <a:spLocks noGrp="1"/>
          </p:cNvSpPr>
          <p:nvPr>
            <p:ph type="title"/>
          </p:nvPr>
        </p:nvSpPr>
        <p:spPr>
          <a:xfrm>
            <a:off x="838200" y="365125"/>
            <a:ext cx="10515600" cy="1325563"/>
          </a:xfrm>
        </p:spPr>
        <p:txBody>
          <a:bodyPr>
            <a:normAutofit/>
          </a:bodyPr>
          <a:lstStyle/>
          <a:p>
            <a:r>
              <a:rPr lang="en-US">
                <a:solidFill>
                  <a:srgbClr val="FFFFFF"/>
                </a:solidFill>
              </a:rPr>
              <a:t>LIFECYCLE</a:t>
            </a:r>
          </a:p>
        </p:txBody>
      </p:sp>
      <p:sp>
        <p:nvSpPr>
          <p:cNvPr id="3" name="Content Placeholder 2">
            <a:extLst>
              <a:ext uri="{FF2B5EF4-FFF2-40B4-BE49-F238E27FC236}">
                <a16:creationId xmlns:a16="http://schemas.microsoft.com/office/drawing/2014/main" id="{D923D81F-B1D8-7E18-FB75-BDA6563F760A}"/>
              </a:ext>
            </a:extLst>
          </p:cNvPr>
          <p:cNvSpPr>
            <a:spLocks noGrp="1"/>
          </p:cNvSpPr>
          <p:nvPr>
            <p:ph idx="1"/>
          </p:nvPr>
        </p:nvSpPr>
        <p:spPr>
          <a:xfrm>
            <a:off x="838200" y="1825625"/>
            <a:ext cx="10515600" cy="4351338"/>
          </a:xfrm>
        </p:spPr>
        <p:txBody>
          <a:bodyPr>
            <a:normAutofit/>
          </a:bodyPr>
          <a:lstStyle/>
          <a:p>
            <a:pPr marL="0" indent="0">
              <a:buNone/>
            </a:pPr>
            <a:r>
              <a:rPr lang="en-IN" sz="2000" b="0" i="0" u="none" strike="noStrike" dirty="0">
                <a:solidFill>
                  <a:srgbClr val="FFFFFF"/>
                </a:solidFill>
                <a:effectLst/>
                <a:latin typeface="-webkit-standard"/>
              </a:rPr>
              <a:t>Building and deploying an application using Generative AI involves several stages, from conception to deployment and maintenance. Here's a detailed lifecycle, tailored for deploying on the cloud:</a:t>
            </a:r>
          </a:p>
          <a:p>
            <a:r>
              <a:rPr lang="en-IN" sz="2000" b="0" i="0" u="none" strike="noStrike" dirty="0">
                <a:solidFill>
                  <a:srgbClr val="FFFFFF"/>
                </a:solidFill>
                <a:effectLst/>
                <a:latin typeface="-webkit-standard"/>
              </a:rPr>
              <a:t>Defining The Project Scope And Requirements, </a:t>
            </a:r>
          </a:p>
          <a:p>
            <a:r>
              <a:rPr lang="en-IN" sz="2000" b="0" i="0" u="none" strike="noStrike" dirty="0">
                <a:solidFill>
                  <a:srgbClr val="FFFFFF"/>
                </a:solidFill>
                <a:effectLst/>
                <a:latin typeface="-webkit-standard"/>
              </a:rPr>
              <a:t>Researching And Selecting Models, </a:t>
            </a:r>
          </a:p>
          <a:p>
            <a:r>
              <a:rPr lang="en-IN" sz="2000" b="0" i="0" u="none" strike="noStrike" dirty="0">
                <a:solidFill>
                  <a:srgbClr val="FFFFFF"/>
                </a:solidFill>
                <a:effectLst/>
                <a:latin typeface="-webkit-standard"/>
              </a:rPr>
              <a:t>Collecting And Preparing Data, </a:t>
            </a:r>
          </a:p>
          <a:p>
            <a:r>
              <a:rPr lang="en-IN" sz="2000" b="0" i="0" u="none" strike="noStrike" dirty="0">
                <a:solidFill>
                  <a:srgbClr val="FFFFFF"/>
                </a:solidFill>
                <a:effectLst/>
                <a:latin typeface="-webkit-standard"/>
              </a:rPr>
              <a:t>Training And Developing The Model, </a:t>
            </a:r>
          </a:p>
          <a:p>
            <a:r>
              <a:rPr lang="en-IN" sz="2000" b="0" i="0" u="none" strike="noStrike" dirty="0">
                <a:solidFill>
                  <a:srgbClr val="FFFFFF"/>
                </a:solidFill>
                <a:effectLst/>
                <a:latin typeface="-webkit-standard"/>
              </a:rPr>
              <a:t>Optimizing The Model, </a:t>
            </a:r>
          </a:p>
          <a:p>
            <a:r>
              <a:rPr lang="en-IN" sz="2000" b="0" i="0" u="none" strike="noStrike" dirty="0">
                <a:solidFill>
                  <a:srgbClr val="FFFFFF"/>
                </a:solidFill>
                <a:effectLst/>
                <a:latin typeface="-webkit-standard"/>
              </a:rPr>
              <a:t>Integrating And Developing Apis, </a:t>
            </a:r>
          </a:p>
          <a:p>
            <a:r>
              <a:rPr lang="en-IN" sz="2000" b="0" i="0" u="none" strike="noStrike" dirty="0">
                <a:solidFill>
                  <a:srgbClr val="FFFFFF"/>
                </a:solidFill>
                <a:effectLst/>
                <a:latin typeface="-webkit-standard"/>
              </a:rPr>
              <a:t>Deploying On The Cloud, </a:t>
            </a:r>
          </a:p>
          <a:p>
            <a:r>
              <a:rPr lang="en-IN" sz="2000" b="0" i="0" u="none" strike="noStrike" dirty="0">
                <a:solidFill>
                  <a:srgbClr val="FFFFFF"/>
                </a:solidFill>
                <a:effectLst/>
                <a:latin typeface="-webkit-standard"/>
              </a:rPr>
              <a:t>And Monitoring And Maintaining The Application.</a:t>
            </a:r>
            <a:endParaRPr lang="en-US" sz="2000" dirty="0">
              <a:solidFill>
                <a:srgbClr val="FFFFFF"/>
              </a:solidFill>
            </a:endParaRPr>
          </a:p>
        </p:txBody>
      </p:sp>
    </p:spTree>
    <p:extLst>
      <p:ext uri="{BB962C8B-B14F-4D97-AF65-F5344CB8AC3E}">
        <p14:creationId xmlns:p14="http://schemas.microsoft.com/office/powerpoint/2010/main" val="115974138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C0E57C-D798-E83D-E2F7-B714FA2E9B82}"/>
              </a:ext>
            </a:extLst>
          </p:cNvPr>
          <p:cNvSpPr>
            <a:spLocks noGrp="1"/>
          </p:cNvSpPr>
          <p:nvPr>
            <p:ph type="title"/>
          </p:nvPr>
        </p:nvSpPr>
        <p:spPr>
          <a:xfrm>
            <a:off x="4553733" y="548464"/>
            <a:ext cx="6798541" cy="1675623"/>
          </a:xfrm>
        </p:spPr>
        <p:txBody>
          <a:bodyPr anchor="b">
            <a:normAutofit/>
          </a:bodyPr>
          <a:lstStyle/>
          <a:p>
            <a:r>
              <a:rPr lang="en-US" sz="4000"/>
              <a:t>TOOLS AND SERVICES</a:t>
            </a:r>
          </a:p>
        </p:txBody>
      </p:sp>
      <p:pic>
        <p:nvPicPr>
          <p:cNvPr id="5" name="Picture 4" descr="Computer script on a screen">
            <a:extLst>
              <a:ext uri="{FF2B5EF4-FFF2-40B4-BE49-F238E27FC236}">
                <a16:creationId xmlns:a16="http://schemas.microsoft.com/office/drawing/2014/main" id="{40FE1BD3-5128-4C75-F220-2D6D14E20B99}"/>
              </a:ext>
            </a:extLst>
          </p:cNvPr>
          <p:cNvPicPr>
            <a:picLocks noChangeAspect="1"/>
          </p:cNvPicPr>
          <p:nvPr/>
        </p:nvPicPr>
        <p:blipFill rotWithShape="1">
          <a:blip r:embed="rId2"/>
          <a:srcRect l="9691" r="49463"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40236AAF-3084-615F-DE0F-236AB15C7A87}"/>
              </a:ext>
            </a:extLst>
          </p:cNvPr>
          <p:cNvSpPr>
            <a:spLocks noGrp="1"/>
          </p:cNvSpPr>
          <p:nvPr>
            <p:ph idx="1"/>
          </p:nvPr>
        </p:nvSpPr>
        <p:spPr>
          <a:xfrm>
            <a:off x="4553734" y="2409830"/>
            <a:ext cx="6798539" cy="3705217"/>
          </a:xfrm>
        </p:spPr>
        <p:txBody>
          <a:bodyPr>
            <a:normAutofit/>
          </a:bodyPr>
          <a:lstStyle/>
          <a:p>
            <a:r>
              <a:rPr lang="en-IN" sz="1700" b="1" dirty="0"/>
              <a:t>Frameworks</a:t>
            </a:r>
            <a:r>
              <a:rPr lang="en-IN" sz="1700" dirty="0"/>
              <a:t>: TensorFlow, </a:t>
            </a:r>
            <a:r>
              <a:rPr lang="en-IN" sz="1700" dirty="0" err="1"/>
              <a:t>PyTorch</a:t>
            </a:r>
            <a:r>
              <a:rPr lang="en-IN" sz="1700" dirty="0"/>
              <a:t>, Hugging Face Transformers</a:t>
            </a:r>
          </a:p>
          <a:p>
            <a:r>
              <a:rPr lang="en-IN" sz="1700" b="1" dirty="0"/>
              <a:t>Data Storage</a:t>
            </a:r>
            <a:r>
              <a:rPr lang="en-IN" sz="1700" dirty="0"/>
              <a:t>: AWS S3, Azure Blob Storage, Google Cloud Storage</a:t>
            </a:r>
          </a:p>
          <a:p>
            <a:r>
              <a:rPr lang="en-IN" sz="1700" b="1" dirty="0"/>
              <a:t>Model Training</a:t>
            </a:r>
            <a:r>
              <a:rPr lang="en-IN" sz="1700" dirty="0"/>
              <a:t>: AWS </a:t>
            </a:r>
            <a:r>
              <a:rPr lang="en-IN" sz="1700" dirty="0" err="1"/>
              <a:t>Sagemaker</a:t>
            </a:r>
            <a:r>
              <a:rPr lang="en-IN" sz="1700" dirty="0"/>
              <a:t>, Azure Machine Learning, Google AI Platform</a:t>
            </a:r>
          </a:p>
          <a:p>
            <a:r>
              <a:rPr lang="en-IN" sz="1700" b="1" dirty="0"/>
              <a:t>API Development</a:t>
            </a:r>
            <a:r>
              <a:rPr lang="en-IN" sz="1700" dirty="0"/>
              <a:t>: Flask, </a:t>
            </a:r>
            <a:r>
              <a:rPr lang="en-IN" sz="1700" dirty="0" err="1"/>
              <a:t>FastAPI</a:t>
            </a:r>
            <a:endParaRPr lang="en-IN" sz="1700" dirty="0"/>
          </a:p>
          <a:p>
            <a:r>
              <a:rPr lang="en-IN" sz="1700" b="1" dirty="0"/>
              <a:t>Containerization</a:t>
            </a:r>
            <a:r>
              <a:rPr lang="en-IN" sz="1700" dirty="0"/>
              <a:t>: Docker</a:t>
            </a:r>
          </a:p>
          <a:p>
            <a:r>
              <a:rPr lang="en-IN" sz="1700" b="1" dirty="0"/>
              <a:t>Orchestration</a:t>
            </a:r>
            <a:r>
              <a:rPr lang="en-IN" sz="1700" dirty="0"/>
              <a:t>: Kubernetes</a:t>
            </a:r>
          </a:p>
          <a:p>
            <a:r>
              <a:rPr lang="en-IN" sz="1700" b="1" dirty="0"/>
              <a:t>Deployment</a:t>
            </a:r>
            <a:r>
              <a:rPr lang="en-IN" sz="1700" dirty="0"/>
              <a:t>: AWS Lambda, Azure Functions, Google Cloud Run</a:t>
            </a:r>
          </a:p>
          <a:p>
            <a:r>
              <a:rPr lang="en-IN" sz="1700" b="1" dirty="0"/>
              <a:t>CI/CD</a:t>
            </a:r>
            <a:r>
              <a:rPr lang="en-IN" sz="1700" dirty="0"/>
              <a:t>: Jenkins, GitHub Actions, AWS </a:t>
            </a:r>
            <a:r>
              <a:rPr lang="en-IN" sz="1700" dirty="0" err="1"/>
              <a:t>CodePipeline</a:t>
            </a:r>
            <a:endParaRPr lang="en-IN" sz="1700" dirty="0"/>
          </a:p>
          <a:p>
            <a:r>
              <a:rPr lang="en-IN" sz="1700" b="1" dirty="0"/>
              <a:t>Monitoring</a:t>
            </a:r>
            <a:r>
              <a:rPr lang="en-IN" sz="1700" dirty="0"/>
              <a:t>: AWS CloudWatch, Azure Monitor, Google Cloud Monitoring</a:t>
            </a:r>
            <a:endParaRPr lang="en-US" sz="1700" dirty="0"/>
          </a:p>
        </p:txBody>
      </p:sp>
    </p:spTree>
    <p:extLst>
      <p:ext uri="{BB962C8B-B14F-4D97-AF65-F5344CB8AC3E}">
        <p14:creationId xmlns:p14="http://schemas.microsoft.com/office/powerpoint/2010/main" val="3060756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450</Words>
  <Application>Microsoft Macintosh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-webkit-standard</vt:lpstr>
      <vt:lpstr>Aptos</vt:lpstr>
      <vt:lpstr>Aptos Display</vt:lpstr>
      <vt:lpstr>Arial</vt:lpstr>
      <vt:lpstr>Futura Condensed ExtraBold</vt:lpstr>
      <vt:lpstr>Futura Condensed Medium</vt:lpstr>
      <vt:lpstr>Office Theme</vt:lpstr>
      <vt:lpstr>Gen AI </vt:lpstr>
      <vt:lpstr>WHY GEN AI?</vt:lpstr>
      <vt:lpstr>COMPONENTS OF GEN AI</vt:lpstr>
      <vt:lpstr>UNDERSTANDING GEN AI TOOLS</vt:lpstr>
      <vt:lpstr>LIFECYCLE</vt:lpstr>
      <vt:lpstr>TOOLS AND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Ram Manohar Nisarg NS</dc:creator>
  <cp:lastModifiedBy>Dr. Ram Manohar Nisarg NS</cp:lastModifiedBy>
  <cp:revision>2</cp:revision>
  <dcterms:created xsi:type="dcterms:W3CDTF">2024-06-02T18:26:06Z</dcterms:created>
  <dcterms:modified xsi:type="dcterms:W3CDTF">2024-06-03T05:56:33Z</dcterms:modified>
</cp:coreProperties>
</file>