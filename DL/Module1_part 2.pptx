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29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68FA0-9FC1-CAF6-A4D0-649931D79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900A9-4527-3D3F-86C6-FD11E109C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2A598-B9BB-0923-4236-DB8BB1036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449E5-7091-1FF8-2400-511E3860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76ED1-0847-F925-5A79-9B567B11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361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7CB7F-688F-C486-CD35-1B502CD7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4ADAA-90F1-58A9-1212-E36F7A55C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9B23-C65C-064A-AA6C-72B9965A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AD97E-1E5A-A7B7-A368-569945CE3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BD6BA-BEA1-58E6-8154-E470EB71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29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DA0A-A701-EE67-E743-FB93A96E0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B9416-5903-6160-F40A-B01750772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9124-63F5-540F-9231-3CFA0A59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FC73E-C2CB-F178-71CD-39183C35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B1055-626A-7BC6-19D0-BA70B4377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64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C8FC-02DE-0DAC-091A-FCCC1D6E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80D1E-FCE1-9A12-3334-D8835223C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F003C-654A-AF12-0BC0-90AFB10B7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AB0F7-61AB-A930-BC85-945B79D7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33B2E-FFED-813A-5BB6-D9428F44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FC120-38A1-DDDA-6267-F2728117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72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C3C1-4F92-E28B-FC22-BF0F4E120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03610-3359-B6E6-EF8E-C8A751094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5B26E-BF9E-ADDC-878B-32B60765B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FCC2CA-A652-23D4-2737-0BC1493AF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DC3E93-F40F-0F7F-2BAD-D8DE0BE0E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B079A-A212-1692-1A18-1201802C2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E56606-B505-FEF8-BD9B-FFC7ADB3D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87263-1D3D-426A-0254-DDC7A421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957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25FD-CD27-3E23-BB1C-DF7D9F49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57102-7061-D855-6241-61E021A7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1F8EE-16F1-BB30-0097-7404EF04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318CF-F09C-5154-7421-4557A4C8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72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43869-FDD7-DB4F-C07E-3BD850E35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BC2DB6-DD0A-1F1F-AB75-0E09734EF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917C0-6C81-DBF0-D9CD-E79972A68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58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A156-D0CB-6CBE-C0C2-25BE12F8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0EB52-5DDF-D6E8-6083-5889D9E93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FC9AC-408D-AFA5-4AF2-6DA61E76F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C89BD-4B5E-6588-17D0-872C83326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6FFF0-777C-F65E-2348-93588D39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77475-E1CE-0C6C-3573-98715951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61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8C6A-8C45-916E-F402-B8E24072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8D293F-92D3-582A-ED91-C8D4786FE2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5B046-8DF8-CDE2-0F6C-3A0B31141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07FDC-D698-DD4D-56DD-8565A0BBF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E2F32-5410-9772-3057-96C8BBE3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70416-1114-0CAA-198C-0F07E7B9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8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0965-C62E-C6AF-CAFE-EA986C29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B4A3D-388F-EF4B-F3E5-2DCDFC8AC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7D9ED-91DB-B703-963A-4A5C8D3A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FCC09-B7BF-D047-AE22-F9E2862C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D2A43-C569-3919-380D-AECB743A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9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5B499-DE1A-CC91-2AB8-C240B3F8BD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B3E79-9E97-1928-AF03-5CA8E4ACF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8A466-E8C6-7444-5E00-5CDE5B53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262D6-380F-DFA0-6FB0-09EAC225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8BA72-54B2-D898-F351-7D25E6E1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05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74781-3E9B-4741-DE4F-DD42C3A1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CEBEC-E675-AD4B-E74C-F970570D9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D6D76-81DA-5822-0B91-CD53E3EF2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FEE24-A71D-4B36-A23B-C2C4F2AEF5FC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4B4BB-7F5C-A4BA-270F-C4EEEFCFB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A8CAC-BA5A-2F28-6294-54C59DC6D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79EFD-7A02-42BD-BFDF-2CC9B972E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30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CF518D-8D88-8212-9D62-975CCA03EA69}"/>
              </a:ext>
            </a:extLst>
          </p:cNvPr>
          <p:cNvSpPr txBox="1"/>
          <p:nvPr/>
        </p:nvSpPr>
        <p:spPr>
          <a:xfrm>
            <a:off x="2053883" y="365761"/>
            <a:ext cx="8581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Deep Neural Networks (DNNs) in Recommender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54624-43D6-7A55-E513-F2B975224246}"/>
              </a:ext>
            </a:extLst>
          </p:cNvPr>
          <p:cNvSpPr txBox="1"/>
          <p:nvPr/>
        </p:nvSpPr>
        <p:spPr>
          <a:xfrm>
            <a:off x="566223" y="956602"/>
            <a:ext cx="1096928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Deep Neural Networks (DNNs)</a:t>
            </a:r>
            <a:r>
              <a:rPr lang="en-US" sz="2000" dirty="0"/>
              <a:t> are a type of machine learning model that is particularly good at learning </a:t>
            </a:r>
            <a:r>
              <a:rPr lang="en-US" sz="2000" b="1" dirty="0"/>
              <a:t>complex patterns</a:t>
            </a:r>
            <a:r>
              <a:rPr lang="en-US" sz="2000" dirty="0"/>
              <a:t> in data. They are called "deep" because they have many </a:t>
            </a:r>
            <a:r>
              <a:rPr lang="en-US" sz="2000" b="1" dirty="0"/>
              <a:t>layers</a:t>
            </a:r>
            <a:r>
              <a:rPr lang="en-US" sz="2000" dirty="0"/>
              <a:t> of processing between the input (what we give the system) and the output (the recommendation or prediction).</a:t>
            </a:r>
          </a:p>
          <a:p>
            <a:r>
              <a:rPr lang="en-US" sz="2000" b="1" dirty="0"/>
              <a:t>How DNNs Work: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Multiple Layers of Learning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 DNN has many </a:t>
            </a:r>
            <a:r>
              <a:rPr lang="en-US" sz="2000" b="1" dirty="0"/>
              <a:t>layers</a:t>
            </a:r>
            <a:r>
              <a:rPr lang="en-US" sz="2000" dirty="0"/>
              <a:t> (called </a:t>
            </a:r>
            <a:r>
              <a:rPr lang="en-US" sz="2000" b="1" dirty="0"/>
              <a:t>hidden layers</a:t>
            </a:r>
            <a:r>
              <a:rPr lang="en-US" sz="2000" dirty="0"/>
              <a:t>) between the </a:t>
            </a:r>
            <a:r>
              <a:rPr lang="en-US" sz="2000" b="1" dirty="0"/>
              <a:t>input</a:t>
            </a:r>
            <a:r>
              <a:rPr lang="en-US" sz="2000" dirty="0"/>
              <a:t> layer (where data comes in) and the </a:t>
            </a:r>
            <a:r>
              <a:rPr lang="en-US" sz="2000" b="1" dirty="0"/>
              <a:t>output</a:t>
            </a:r>
            <a:r>
              <a:rPr lang="en-US" sz="2000" dirty="0"/>
              <a:t> layer (where the prediction or recommendation happens).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Each layer learns something different and </a:t>
            </a:r>
            <a:r>
              <a:rPr lang="en-US" sz="2000" b="1" dirty="0"/>
              <a:t>increasingly abstract</a:t>
            </a:r>
            <a:r>
              <a:rPr lang="en-US" sz="2000" dirty="0"/>
              <a:t> about the data.</a:t>
            </a:r>
          </a:p>
          <a:p>
            <a:r>
              <a:rPr lang="en-US" sz="2000" dirty="0"/>
              <a:t> </a:t>
            </a:r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Imagine you’re training a DNN to recommend movies. The first layer might learn basic things like </a:t>
            </a:r>
            <a:r>
              <a:rPr lang="en-US" sz="2000" b="1" dirty="0"/>
              <a:t>movie genres</a:t>
            </a:r>
            <a:r>
              <a:rPr lang="en-US" sz="2000" dirty="0"/>
              <a:t> (action, comedy, etc.), the next layer might look at </a:t>
            </a:r>
            <a:r>
              <a:rPr lang="en-US" sz="2000" b="1" dirty="0"/>
              <a:t>how users rated similar movies</a:t>
            </a:r>
            <a:r>
              <a:rPr lang="en-US" sz="2000" dirty="0"/>
              <a:t>, and a deeper layer might learn more complex patterns like how a </a:t>
            </a:r>
            <a:r>
              <a:rPr lang="en-US" sz="2000" b="1" dirty="0"/>
              <a:t>user’s mood or time of day</a:t>
            </a:r>
            <a:r>
              <a:rPr lang="en-US" sz="2000" dirty="0"/>
              <a:t> affects their ratings.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86196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001C90-698D-EEE7-3CD6-4BA3FADA5CFB}"/>
              </a:ext>
            </a:extLst>
          </p:cNvPr>
          <p:cNvSpPr txBox="1"/>
          <p:nvPr/>
        </p:nvSpPr>
        <p:spPr>
          <a:xfrm>
            <a:off x="731519" y="633047"/>
            <a:ext cx="1125728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2. Learning Complex Patterns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Traditional methods (like linear regression or simple decision trees) work with relatively simple relationships in the data. But DNNs can capture </a:t>
            </a:r>
            <a:r>
              <a:rPr lang="en-US" sz="2000" b="1" dirty="0"/>
              <a:t>complex, non-linear relationships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For </a:t>
            </a:r>
            <a:r>
              <a:rPr lang="en-US" sz="2000" b="1" dirty="0"/>
              <a:t>example</a:t>
            </a:r>
            <a:r>
              <a:rPr lang="en-US" sz="2000" dirty="0"/>
              <a:t>, a user might rate certain action movies highly but not others. The system can learn to </a:t>
            </a:r>
            <a:r>
              <a:rPr lang="en-US" sz="2000" b="1" dirty="0"/>
              <a:t>understand the difference</a:t>
            </a:r>
            <a:r>
              <a:rPr lang="en-US" sz="2000" dirty="0"/>
              <a:t> based on very subtle details like </a:t>
            </a:r>
            <a:r>
              <a:rPr lang="en-US" sz="2000" b="1" dirty="0"/>
              <a:t>actors</a:t>
            </a:r>
            <a:r>
              <a:rPr lang="en-US" sz="2000" dirty="0"/>
              <a:t> or </a:t>
            </a:r>
            <a:r>
              <a:rPr lang="en-US" sz="2000" b="1" dirty="0"/>
              <a:t>directors</a:t>
            </a:r>
            <a:r>
              <a:rPr lang="en-US" sz="2000" dirty="0"/>
              <a:t>, which simpler methods might miss.</a:t>
            </a:r>
          </a:p>
          <a:p>
            <a:r>
              <a:rPr lang="en-US" sz="2000" b="1" dirty="0"/>
              <a:t>3.User-Item Interaction Data</a:t>
            </a:r>
            <a:endParaRPr lang="en-US" sz="2000" dirty="0"/>
          </a:p>
          <a:p>
            <a:pPr lvl="1" algn="just"/>
            <a:r>
              <a:rPr lang="en-US" sz="2000" dirty="0"/>
              <a:t>DNNs work particularly well with </a:t>
            </a:r>
            <a:r>
              <a:rPr lang="en-US" sz="2000" b="1" dirty="0"/>
              <a:t>user-item interaction data</a:t>
            </a:r>
            <a:r>
              <a:rPr lang="en-US" sz="2000" dirty="0"/>
              <a:t> (such as movie ratings, clicks on products, or plays of a song) because they can learn from </a:t>
            </a:r>
            <a:r>
              <a:rPr lang="en-US" sz="2000" b="1" dirty="0"/>
              <a:t>large amounts of data</a:t>
            </a:r>
            <a:r>
              <a:rPr lang="en-US" sz="2000" dirty="0"/>
              <a:t> and detect hidden patterns.</a:t>
            </a:r>
          </a:p>
          <a:p>
            <a:r>
              <a:rPr lang="en-US" sz="2000" b="1" dirty="0"/>
              <a:t>Advantages of Using DNNs in Recommender Systems: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Can Handle Huge Data</a:t>
            </a:r>
          </a:p>
          <a:p>
            <a:pPr lvl="1"/>
            <a:r>
              <a:rPr lang="en-US" sz="2000" dirty="0"/>
              <a:t>DNNs can handle large and complex datasets effectively, which is great for modern recommender systems that need to process millions of interactions.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Learns Complex Relationships</a:t>
            </a:r>
          </a:p>
          <a:p>
            <a:pPr lvl="1"/>
            <a:r>
              <a:rPr lang="en-US" sz="2000" dirty="0"/>
              <a:t>DNNs can capture complex and hidden patterns that simpler models might miss, leading to more accurate recommendations.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Adaptable</a:t>
            </a:r>
          </a:p>
          <a:p>
            <a:pPr lvl="1"/>
            <a:r>
              <a:rPr lang="en-US" sz="2000" dirty="0"/>
              <a:t>As new data comes in (e.g., new ratings, new users, or new items), DNNs can update and adapt, improving the system over time.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50665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8EECE9-9088-14EE-E3A7-DF7267B18B24}"/>
              </a:ext>
            </a:extLst>
          </p:cNvPr>
          <p:cNvSpPr txBox="1"/>
          <p:nvPr/>
        </p:nvSpPr>
        <p:spPr>
          <a:xfrm>
            <a:off x="675249" y="618979"/>
            <a:ext cx="109868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Example of How DNNs Are Used:</a:t>
            </a:r>
          </a:p>
          <a:p>
            <a:pPr algn="just"/>
            <a:r>
              <a:rPr lang="en-US" sz="2000" dirty="0"/>
              <a:t>Imagine you’re using a music recommendation system, and you’ve liked several songs by a particular artist. A DNN would not only notice that you like this artist but also learn things like:</a:t>
            </a:r>
          </a:p>
          <a:p>
            <a:pPr algn="just"/>
            <a:endParaRPr lang="en-US" sz="20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Mood of the music</a:t>
            </a:r>
            <a:r>
              <a:rPr lang="en-US" sz="2000" dirty="0"/>
              <a:t> (Is it upbeat, relaxing, or energetic?)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Musical features</a:t>
            </a:r>
            <a:r>
              <a:rPr lang="en-US" sz="2000" dirty="0"/>
              <a:t> (tempo, genre, instruments used)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Patterns in your behavior</a:t>
            </a:r>
            <a:r>
              <a:rPr lang="en-US" sz="2000" dirty="0"/>
              <a:t> (Do you listen more to music in the morning or evening? Do you prefer certain types of vocals?)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just"/>
            <a:r>
              <a:rPr lang="en-US" sz="2000" dirty="0"/>
              <a:t>The DNN would take all these </a:t>
            </a:r>
            <a:r>
              <a:rPr lang="en-US" sz="2000" b="1" dirty="0"/>
              <a:t>complex relationships</a:t>
            </a:r>
            <a:r>
              <a:rPr lang="en-US" sz="2000" dirty="0"/>
              <a:t> into account and recommend songs that you might like, even if they are from </a:t>
            </a:r>
            <a:r>
              <a:rPr lang="en-US" sz="2000" b="1" dirty="0"/>
              <a:t>different artists</a:t>
            </a:r>
            <a:r>
              <a:rPr lang="en-US" sz="2000" dirty="0"/>
              <a:t> or </a:t>
            </a:r>
            <a:r>
              <a:rPr lang="en-US" sz="2000" b="1" dirty="0"/>
              <a:t>genres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2669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D23BA0-2EBF-E49E-DCD9-C840DBE9DA66}"/>
              </a:ext>
            </a:extLst>
          </p:cNvPr>
          <p:cNvSpPr txBox="1"/>
          <p:nvPr/>
        </p:nvSpPr>
        <p:spPr>
          <a:xfrm>
            <a:off x="492369" y="365760"/>
            <a:ext cx="112260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Convolutional Neural Networks (CNNs) in Recommender Systems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7BBFA-6D7B-26FE-277C-4D79C8AA7A2F}"/>
              </a:ext>
            </a:extLst>
          </p:cNvPr>
          <p:cNvSpPr txBox="1"/>
          <p:nvPr/>
        </p:nvSpPr>
        <p:spPr>
          <a:xfrm>
            <a:off x="633046" y="998806"/>
            <a:ext cx="10888394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Convolutional Neural Network (CNN)</a:t>
            </a:r>
            <a:r>
              <a:rPr lang="en-US" sz="2000" dirty="0"/>
              <a:t> is a type of deep learning model that is </a:t>
            </a:r>
            <a:r>
              <a:rPr lang="en-US" sz="2000" b="1" dirty="0"/>
              <a:t>really good at analyzing patterns</a:t>
            </a:r>
            <a:r>
              <a:rPr lang="en-US" sz="2000" dirty="0"/>
              <a:t> in structured data. They are most commonly used in </a:t>
            </a:r>
            <a:r>
              <a:rPr lang="en-US" sz="2000" b="1" dirty="0"/>
              <a:t>image processing</a:t>
            </a:r>
            <a:r>
              <a:rPr lang="en-US" sz="2000" dirty="0"/>
              <a:t>, but they can also be applied to </a:t>
            </a:r>
            <a:r>
              <a:rPr lang="en-US" sz="2000" b="1" dirty="0"/>
              <a:t>recommender systems</a:t>
            </a:r>
            <a:r>
              <a:rPr lang="en-US" sz="2000" dirty="0"/>
              <a:t> to improve recommendations.</a:t>
            </a:r>
          </a:p>
          <a:p>
            <a:r>
              <a:rPr lang="en-US" sz="2000" dirty="0"/>
              <a:t>A </a:t>
            </a:r>
            <a:r>
              <a:rPr lang="en-US" sz="2000" b="1" dirty="0"/>
              <a:t>Convolutional Neural Network (CNN)</a:t>
            </a:r>
            <a:r>
              <a:rPr lang="en-US" sz="2000" dirty="0"/>
              <a:t> is like a </a:t>
            </a:r>
            <a:r>
              <a:rPr lang="en-US" sz="2000" b="1" dirty="0"/>
              <a:t>smart pattern detector</a:t>
            </a:r>
            <a:r>
              <a:rPr lang="en-US" sz="2000" dirty="0"/>
              <a:t>. Originally designed to recognize patterns in images (like faces or objects), CNNs can also </a:t>
            </a:r>
            <a:r>
              <a:rPr lang="en-US" sz="2000" b="1" dirty="0"/>
              <a:t>find patterns in other types of data</a:t>
            </a:r>
            <a:r>
              <a:rPr lang="en-US" sz="2000" dirty="0"/>
              <a:t>,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Movie posters</a:t>
            </a:r>
            <a:r>
              <a:rPr lang="en-US" sz="2000" dirty="0"/>
              <a:t> (image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Plot summaries</a:t>
            </a:r>
            <a:r>
              <a:rPr lang="en-US" sz="2000" dirty="0"/>
              <a:t> (text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Trailers</a:t>
            </a:r>
            <a:r>
              <a:rPr lang="en-US" sz="2000" dirty="0"/>
              <a:t> (video frames)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Actor or director info</a:t>
            </a:r>
            <a:r>
              <a:rPr lang="en-US" sz="2000" dirty="0"/>
              <a:t> (structured data)</a:t>
            </a:r>
          </a:p>
          <a:p>
            <a:r>
              <a:rPr lang="en-US" sz="2000" dirty="0"/>
              <a:t>So, instead of just saying, “This is an action movie,” a CNN can </a:t>
            </a:r>
            <a:r>
              <a:rPr lang="en-US" sz="2000" b="1" dirty="0"/>
              <a:t>dig deeper</a:t>
            </a:r>
            <a:r>
              <a:rPr lang="en-US" sz="2000" dirty="0"/>
              <a:t> and say, “This action movie has fast car chases, dark scenes, and intense faces—just like movies you’ve liked before.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40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E0CA1-AD6F-3D65-8524-45066A37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C11F3A-107D-0A52-0E63-7A4139EE8829}"/>
              </a:ext>
            </a:extLst>
          </p:cNvPr>
          <p:cNvSpPr txBox="1"/>
          <p:nvPr/>
        </p:nvSpPr>
        <p:spPr>
          <a:xfrm>
            <a:off x="886265" y="520505"/>
            <a:ext cx="82612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How CNNs Work in Movie Recommendations: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6A6A3-6E9A-97E4-C0AA-3F3A7ABA0BE4}"/>
              </a:ext>
            </a:extLst>
          </p:cNvPr>
          <p:cNvSpPr txBox="1"/>
          <p:nvPr/>
        </p:nvSpPr>
        <p:spPr>
          <a:xfrm>
            <a:off x="773724" y="889837"/>
            <a:ext cx="10803988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Extracting Features from Visual Data (e.g., Posters &amp; Trailers)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CNN analyzes the movie poster to identify key features—like bright colors (maybe a fun, lighthearted film), dark tones (thriller), or specific actors.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For trailers, it breaks down video frames to detect action scenes, romantic moments, etc.</a:t>
            </a:r>
          </a:p>
          <a:p>
            <a:r>
              <a:rPr lang="en-US" sz="2000" i="1" dirty="0"/>
              <a:t>Example: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</a:t>
            </a:r>
            <a:r>
              <a:rPr lang="en-US" sz="2000"/>
              <a:t>you liked </a:t>
            </a:r>
            <a:r>
              <a:rPr lang="en-US" sz="2000" dirty="0"/>
              <a:t>“Fast &amp; Furious”, the CNN might notice you like movies with cars, explosions, and intense action shots.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It will then recommend similar-looking movies, even if you’ve never heard of them.</a:t>
            </a:r>
          </a:p>
          <a:p>
            <a:endParaRPr lang="en-US" sz="2000" dirty="0"/>
          </a:p>
          <a:p>
            <a:r>
              <a:rPr lang="en-US" sz="2000" b="1" dirty="0"/>
              <a:t>Understanding Textual Data (e.g., Plot Summaries)</a:t>
            </a:r>
          </a:p>
          <a:p>
            <a:r>
              <a:rPr lang="en-US" sz="2000" dirty="0"/>
              <a:t>CNNs can also work with text data by treating plot summaries like a grid (similar to images):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It scans the plot for keywords and patterns—like “superhero,” “space adventure,” or “time travel.”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CNN identifies recurring themes you enjoy and suggests movies with similar storylines.</a:t>
            </a:r>
          </a:p>
          <a:p>
            <a:r>
              <a:rPr lang="en-US" sz="2000" i="1" dirty="0"/>
              <a:t>Example: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you liked “Interstellar”, the CNN might detect you’re into space exploration and recommend movies like “The Martian” or “Gravity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86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E0F9-BAEB-43E7-58F7-70BFB96B0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CE6346-9C18-2099-0324-19B16C734C67}"/>
              </a:ext>
            </a:extLst>
          </p:cNvPr>
          <p:cNvSpPr txBox="1"/>
          <p:nvPr/>
        </p:nvSpPr>
        <p:spPr>
          <a:xfrm>
            <a:off x="478302" y="295424"/>
            <a:ext cx="11479236" cy="656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Combining Visual + Textual Features for Smart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Visual data (from posters/trailers) + Text data (from plots/reviews) are combined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CNN learns connections between what you’ve watched and new movies, even if you haven’t rated them yet.</a:t>
            </a:r>
          </a:p>
          <a:p>
            <a:r>
              <a:rPr lang="en-US" sz="2000" i="1" dirty="0"/>
              <a:t>Example:</a:t>
            </a:r>
            <a:br>
              <a:rPr lang="en-US" sz="2000" dirty="0"/>
            </a:br>
            <a:r>
              <a:rPr lang="en-US" sz="2000" dirty="0"/>
              <a:t>You like romantic comedies with colorful posters and cheerful themes? CNN will find movies with:</a:t>
            </a:r>
            <a:br>
              <a:rPr lang="en-US" sz="2000" dirty="0"/>
            </a:br>
            <a:r>
              <a:rPr lang="en-US" sz="2000" dirty="0"/>
              <a:t>Bright posters</a:t>
            </a:r>
            <a:br>
              <a:rPr lang="en-US" sz="2000" dirty="0"/>
            </a:br>
            <a:r>
              <a:rPr lang="en-US" sz="2000" dirty="0"/>
              <a:t> Happy couple plots</a:t>
            </a:r>
          </a:p>
          <a:p>
            <a:r>
              <a:rPr lang="en-US" sz="2000" dirty="0"/>
              <a:t> Funny or feel-good vibes</a:t>
            </a:r>
          </a:p>
          <a:p>
            <a:r>
              <a:rPr lang="en-US" sz="2000" b="1" dirty="0"/>
              <a:t>Why Use CNNs in Movie Recommendations?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Visual Insight:</a:t>
            </a:r>
            <a:r>
              <a:rPr lang="en-US" sz="2000" dirty="0"/>
              <a:t> Goes beyond ratings—</a:t>
            </a:r>
            <a:r>
              <a:rPr lang="en-US" sz="2000" b="1" dirty="0"/>
              <a:t>analyzes how a movie </a:t>
            </a:r>
            <a:r>
              <a:rPr lang="en-US" sz="2000" b="1" i="1" dirty="0"/>
              <a:t>looks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Content Understanding:</a:t>
            </a:r>
            <a:r>
              <a:rPr lang="en-US" sz="2000" dirty="0"/>
              <a:t> Doesn’t rely solely on user behavior—</a:t>
            </a:r>
            <a:r>
              <a:rPr lang="en-US" sz="2000" b="1" dirty="0"/>
              <a:t>understands movie content itself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Cold Start Problem:</a:t>
            </a:r>
            <a:r>
              <a:rPr lang="en-US" sz="2000" dirty="0"/>
              <a:t> Great for </a:t>
            </a:r>
            <a:r>
              <a:rPr lang="en-US" sz="2000" b="1" dirty="0"/>
              <a:t>new movies</a:t>
            </a:r>
            <a:r>
              <a:rPr lang="en-US" sz="2000" dirty="0"/>
              <a:t> without many ratings because it can recommend based on </a:t>
            </a:r>
            <a:r>
              <a:rPr lang="en-US" sz="2000" b="1" dirty="0"/>
              <a:t>posters, trailers, and descriptions</a:t>
            </a:r>
            <a:r>
              <a:rPr lang="en-US" sz="2000" dirty="0"/>
              <a:t>.</a:t>
            </a:r>
          </a:p>
          <a:p>
            <a:r>
              <a:rPr lang="en-US" sz="2000" b="1" dirty="0"/>
              <a:t>Example Pipeline: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Input:</a:t>
            </a:r>
            <a:r>
              <a:rPr lang="en-US" sz="2000" dirty="0"/>
              <a:t> Movie posters, trailers, and plot summaries.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CNN Processing:</a:t>
            </a:r>
            <a:r>
              <a:rPr lang="en-US" sz="2000" dirty="0"/>
              <a:t> Detects key features (e.g., action scenes, romantic themes).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Matching:</a:t>
            </a:r>
            <a:r>
              <a:rPr lang="en-US" sz="2000" dirty="0"/>
              <a:t> Compares features with movies the user liked before.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Recommendation:</a:t>
            </a:r>
            <a:r>
              <a:rPr lang="en-US" sz="2000" dirty="0"/>
              <a:t> Suggests movies with </a:t>
            </a:r>
            <a:r>
              <a:rPr lang="en-US" sz="2000" b="1" dirty="0"/>
              <a:t>similar visuals and story elements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6060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FAB4F-1F65-7CF3-3F75-B451EB48B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1518B0-726D-95AB-272A-087954842911}"/>
              </a:ext>
            </a:extLst>
          </p:cNvPr>
          <p:cNvSpPr txBox="1"/>
          <p:nvPr/>
        </p:nvSpPr>
        <p:spPr>
          <a:xfrm>
            <a:off x="661182" y="323558"/>
            <a:ext cx="10860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Recurrent Neural Networks (RNNs) in Recommender Systems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4EE10-5ED6-9680-33B7-CC6EE8EDE788}"/>
              </a:ext>
            </a:extLst>
          </p:cNvPr>
          <p:cNvSpPr txBox="1"/>
          <p:nvPr/>
        </p:nvSpPr>
        <p:spPr>
          <a:xfrm>
            <a:off x="670560" y="785223"/>
            <a:ext cx="10860258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Recurrent Neural Network (RNN)</a:t>
            </a:r>
            <a:r>
              <a:rPr lang="en-US" sz="2000" dirty="0"/>
              <a:t> is a type of deep learning model that is </a:t>
            </a:r>
            <a:r>
              <a:rPr lang="en-US" sz="2000" b="1" dirty="0"/>
              <a:t>great at handling sequential (time-based) data</a:t>
            </a:r>
            <a:r>
              <a:rPr lang="en-US" sz="2000" dirty="0"/>
              <a:t>. It remembers what happened earlier in a sequence and uses that memory to predict what might come next.</a:t>
            </a:r>
          </a:p>
          <a:p>
            <a:r>
              <a:rPr lang="en-US" sz="2000" dirty="0"/>
              <a:t>Unlike regular neural networks, which process each input independently, RNNs remember past inputs and use them to influence the next prediction. This makes them ideal for things like:</a:t>
            </a:r>
            <a:br>
              <a:rPr lang="en-US" sz="2000" dirty="0"/>
            </a:br>
            <a:r>
              <a:rPr lang="en-US" sz="2000" dirty="0"/>
              <a:t>       </a:t>
            </a:r>
            <a:r>
              <a:rPr lang="en-US" sz="2000" b="1" dirty="0"/>
              <a:t>Predicting text (autocorrect, chatbots)</a:t>
            </a:r>
            <a:br>
              <a:rPr lang="en-US" sz="2000" dirty="0"/>
            </a:br>
            <a:r>
              <a:rPr lang="en-US" sz="2000" dirty="0"/>
              <a:t>        </a:t>
            </a:r>
            <a:r>
              <a:rPr lang="en-US" sz="2000" b="1" dirty="0"/>
              <a:t>Understanding speech (voice assistants like Siri, Alexa)</a:t>
            </a:r>
          </a:p>
          <a:p>
            <a:r>
              <a:rPr lang="en-US" sz="2000" b="1" dirty="0"/>
              <a:t>       </a:t>
            </a:r>
            <a:r>
              <a:rPr lang="en-US" sz="2000" dirty="0"/>
              <a:t> </a:t>
            </a:r>
            <a:r>
              <a:rPr lang="en-US" sz="2000" b="1" dirty="0"/>
              <a:t>Analyzing stock market trends</a:t>
            </a:r>
          </a:p>
          <a:p>
            <a:r>
              <a:rPr lang="en-US" sz="2000" b="1" dirty="0"/>
              <a:t>How RNNs Help in Recommender Systems:</a:t>
            </a:r>
          </a:p>
          <a:p>
            <a:r>
              <a:rPr lang="en-US" sz="2000" dirty="0"/>
              <a:t>RNNs are </a:t>
            </a:r>
            <a:r>
              <a:rPr lang="en-US" sz="2000" b="1" dirty="0"/>
              <a:t>very useful</a:t>
            </a:r>
            <a:r>
              <a:rPr lang="en-US" sz="2000" dirty="0"/>
              <a:t> in recommender systems because user behavior often follows a </a:t>
            </a:r>
            <a:r>
              <a:rPr lang="en-US" sz="2000" b="1" dirty="0"/>
              <a:t>sequence</a:t>
            </a:r>
            <a:r>
              <a:rPr lang="en-US" sz="2000" dirty="0"/>
              <a:t>. What you do today influences what you might do tomorrow.</a:t>
            </a:r>
          </a:p>
          <a:p>
            <a:r>
              <a:rPr lang="en-US" sz="2000" dirty="0"/>
              <a:t>Here’s how RNNs improve recommendations: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Tracking User Behavior Over Time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RNNs can remember </a:t>
            </a:r>
            <a:r>
              <a:rPr lang="en-US" sz="2000" b="1" dirty="0"/>
              <a:t>past actions</a:t>
            </a:r>
            <a:r>
              <a:rPr lang="en-US" sz="2000" dirty="0"/>
              <a:t> to understand what users might want next.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If you watched a </a:t>
            </a:r>
            <a:r>
              <a:rPr lang="en-US" sz="2000" b="1" dirty="0"/>
              <a:t>action movie</a:t>
            </a:r>
            <a:r>
              <a:rPr lang="en-US" sz="2000" dirty="0"/>
              <a:t> last week and a </a:t>
            </a:r>
            <a:r>
              <a:rPr lang="en-US" sz="2000" b="1" dirty="0"/>
              <a:t>comedy</a:t>
            </a:r>
            <a:r>
              <a:rPr lang="en-US" sz="2000" dirty="0"/>
              <a:t> yesterday, the system can learn that your preferences </a:t>
            </a:r>
            <a:r>
              <a:rPr lang="en-US" sz="2000" b="1" dirty="0"/>
              <a:t>change over time</a:t>
            </a:r>
            <a:r>
              <a:rPr lang="en-US" sz="2000" dirty="0"/>
              <a:t> and recommend something relevant.</a:t>
            </a:r>
          </a:p>
          <a:p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If you binge-watch </a:t>
            </a:r>
            <a:r>
              <a:rPr lang="en-US" sz="2000" b="1" dirty="0"/>
              <a:t>thrillers</a:t>
            </a:r>
            <a:r>
              <a:rPr lang="en-US" sz="2000" dirty="0"/>
              <a:t> over the weekend but switch to </a:t>
            </a:r>
            <a:r>
              <a:rPr lang="en-US" sz="2000" b="1" dirty="0"/>
              <a:t>comedies</a:t>
            </a:r>
            <a:r>
              <a:rPr lang="en-US" sz="2000" dirty="0"/>
              <a:t> on weekdays, an RNN-based system will learn this pattern and suggest movies accordingly.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5389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29ADA-17D7-C81A-05DA-10C36B54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920EDE-BFA2-F6B9-A52C-CE5DE549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63" y="399668"/>
            <a:ext cx="9959927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Browsing History &amp; Session-Based Recommendations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 user is browsing a shopping website, an RNN can analyze their clicks in real-time and suggest items based on the pattern.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remembers what you’ve looked at and predicts what you might be interested in next.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you’re shopping for a phone, an RNN might suggest accessories (cases, chargers) because it understands that users often buy these right after purchasing a phone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Time-Sensitive Trends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 traditional recommendation models, RNNs can adapt to trending topics and changing interests.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many users start watching a new viral show, RNNs can quickly catch on and recommend it to others.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b="1" dirty="0"/>
              <a:t>Example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If a new hit song starts trending, an RNN-based music app will quickly recommend it to users who like similar genres.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731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49653-3ADC-2064-E73E-6EB71DAB2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550912-B755-3818-C053-E4188F041345}"/>
              </a:ext>
            </a:extLst>
          </p:cNvPr>
          <p:cNvSpPr txBox="1"/>
          <p:nvPr/>
        </p:nvSpPr>
        <p:spPr>
          <a:xfrm>
            <a:off x="520505" y="309488"/>
            <a:ext cx="11141612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Advantages of RNNs in Recommender Systems:</a:t>
            </a:r>
          </a:p>
          <a:p>
            <a:r>
              <a:rPr lang="en-US" sz="2000" dirty="0"/>
              <a:t> </a:t>
            </a:r>
            <a:r>
              <a:rPr lang="en-US" sz="2000" b="1" dirty="0"/>
              <a:t>Remembers past actions</a:t>
            </a:r>
            <a:r>
              <a:rPr lang="en-US" sz="2000" dirty="0"/>
              <a:t> – Helps personalize recommendations based on previous behavior.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Great for session-based recommendations</a:t>
            </a:r>
            <a:r>
              <a:rPr lang="en-US" sz="2000" dirty="0"/>
              <a:t> – Ideal for shopping, movies, or music recommendations.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Adapts to trends</a:t>
            </a:r>
            <a:r>
              <a:rPr lang="en-US" sz="2000" dirty="0"/>
              <a:t> – Can adjust to changing user preferences over time.</a:t>
            </a:r>
          </a:p>
          <a:p>
            <a:endParaRPr lang="en-US" sz="2000" dirty="0"/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RNNs are deep learning models that analyze sequences (time-based data).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They remember past interactions to predict what a user might want next.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Used in movie recommendations, shopping suggestions, and music streaming to provide real-time, personalized experiences.</a:t>
            </a:r>
          </a:p>
          <a:p>
            <a:r>
              <a:rPr lang="en-US" sz="2000" b="1" dirty="0"/>
              <a:t>So, if Netflix recommends a movie based on your recent watches, or Spotify plays a song similar to what you just listened to—RNNs are behind the scenes making those smart suggestions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140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36539-C6FA-EF7D-468B-BAC15C2A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C2EF3F-481A-332B-E525-A2EF5A728A0E}"/>
              </a:ext>
            </a:extLst>
          </p:cNvPr>
          <p:cNvSpPr txBox="1"/>
          <p:nvPr/>
        </p:nvSpPr>
        <p:spPr>
          <a:xfrm>
            <a:off x="689317" y="225083"/>
            <a:ext cx="10705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Autoencoders in Recommender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E3590-80BD-FD3C-A938-04827456E6FF}"/>
              </a:ext>
            </a:extLst>
          </p:cNvPr>
          <p:cNvSpPr txBox="1"/>
          <p:nvPr/>
        </p:nvSpPr>
        <p:spPr>
          <a:xfrm>
            <a:off x="450165" y="844063"/>
            <a:ext cx="1109940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An </a:t>
            </a:r>
            <a:r>
              <a:rPr lang="en-US" sz="2000" b="1" dirty="0"/>
              <a:t>autoencoder</a:t>
            </a:r>
            <a:r>
              <a:rPr lang="en-US" sz="2000" dirty="0"/>
              <a:t> is a type of </a:t>
            </a:r>
            <a:r>
              <a:rPr lang="en-US" sz="2000" b="1" dirty="0"/>
              <a:t>neural network</a:t>
            </a:r>
            <a:r>
              <a:rPr lang="en-US" sz="2000" dirty="0"/>
              <a:t> that learns to </a:t>
            </a:r>
            <a:r>
              <a:rPr lang="en-US" sz="2000" b="1" dirty="0"/>
              <a:t>compress</a:t>
            </a:r>
            <a:r>
              <a:rPr lang="en-US" sz="2000" dirty="0"/>
              <a:t> information into a smaller, meaningful form and then </a:t>
            </a:r>
            <a:r>
              <a:rPr lang="en-US" sz="2000" b="1" dirty="0"/>
              <a:t>reconstruct</a:t>
            </a:r>
            <a:r>
              <a:rPr lang="en-US" sz="2000" dirty="0"/>
              <a:t> the original data from that compressed version.</a:t>
            </a:r>
          </a:p>
          <a:p>
            <a:r>
              <a:rPr lang="en-US" sz="2000" dirty="0"/>
              <a:t>Think of it like a </a:t>
            </a:r>
            <a:r>
              <a:rPr lang="en-US" sz="2000" b="1" dirty="0"/>
              <a:t>smart summarizer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✔ It learns the </a:t>
            </a:r>
            <a:r>
              <a:rPr lang="en-US" sz="2000" b="1" dirty="0"/>
              <a:t>important features</a:t>
            </a:r>
            <a:r>
              <a:rPr lang="en-US" sz="2000" dirty="0"/>
              <a:t> of the data.</a:t>
            </a:r>
            <a:br>
              <a:rPr lang="en-US" sz="2000" dirty="0"/>
            </a:br>
            <a:r>
              <a:rPr lang="en-US" sz="2000" dirty="0"/>
              <a:t>✔ It removes unnecessary details.</a:t>
            </a:r>
            <a:br>
              <a:rPr lang="en-US" sz="2000" dirty="0"/>
            </a:br>
            <a:r>
              <a:rPr lang="en-US" sz="2000" dirty="0"/>
              <a:t>✔ It can use this knowledge to </a:t>
            </a:r>
            <a:r>
              <a:rPr lang="en-US" sz="2000" b="1" dirty="0"/>
              <a:t>make better predictions</a:t>
            </a:r>
            <a:r>
              <a:rPr lang="en-US" sz="2000" dirty="0"/>
              <a:t>.</a:t>
            </a:r>
          </a:p>
          <a:p>
            <a:r>
              <a:rPr lang="en-US" sz="2000" b="1" dirty="0"/>
              <a:t>How Autoencoders Help in Recommender Systems:</a:t>
            </a:r>
          </a:p>
          <a:p>
            <a:r>
              <a:rPr lang="en-US" sz="2000" dirty="0"/>
              <a:t>Autoencoders are used in recommendations to </a:t>
            </a:r>
            <a:r>
              <a:rPr lang="en-US" sz="2000" b="1" dirty="0"/>
              <a:t>learn hidden patterns</a:t>
            </a:r>
            <a:r>
              <a:rPr lang="en-US" sz="2000" dirty="0"/>
              <a:t> in user preferences and item features.</a:t>
            </a:r>
          </a:p>
          <a:p>
            <a:r>
              <a:rPr lang="en-US" sz="2000" dirty="0"/>
              <a:t>Here’s how they help: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Finding Hidden Similarities Between Users &amp; Items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Autoencoders create a </a:t>
            </a:r>
            <a:r>
              <a:rPr lang="en-US" sz="2000" b="1" dirty="0"/>
              <a:t>compact version</a:t>
            </a:r>
            <a:r>
              <a:rPr lang="en-US" sz="2000" dirty="0"/>
              <a:t> of users and items by focusing on the most important details.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Even if two users haven’t rated the same movies, the system can find patterns in their preferences and suggest something they’ll like.</a:t>
            </a:r>
          </a:p>
          <a:p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If two users both like </a:t>
            </a:r>
            <a:r>
              <a:rPr lang="en-US" sz="2000" b="1" dirty="0"/>
              <a:t>mystery novels and crime TV shows</a:t>
            </a:r>
            <a:r>
              <a:rPr lang="en-US" sz="2000" dirty="0"/>
              <a:t>, the autoencoder might </a:t>
            </a:r>
            <a:r>
              <a:rPr lang="en-US" sz="2000" b="1" dirty="0"/>
              <a:t>detect this pattern</a:t>
            </a:r>
            <a:r>
              <a:rPr lang="en-US" sz="2000" dirty="0"/>
              <a:t> and recommend </a:t>
            </a:r>
            <a:r>
              <a:rPr lang="en-US" sz="2000" b="1" dirty="0"/>
              <a:t>detective-themed podcasts</a:t>
            </a:r>
            <a:r>
              <a:rPr lang="en-US" sz="2000" dirty="0"/>
              <a:t>—even if they never listened to one before!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20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D42F-58E6-DC40-5F4A-2C1AB463F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14E073-5FD9-4A7A-539B-40DC08986363}"/>
              </a:ext>
            </a:extLst>
          </p:cNvPr>
          <p:cNvSpPr txBox="1"/>
          <p:nvPr/>
        </p:nvSpPr>
        <p:spPr>
          <a:xfrm>
            <a:off x="393895" y="618978"/>
            <a:ext cx="1132449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Handling Missing Data (Sparse Data Problem)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Many users don’t rate every product or movie, so there are </a:t>
            </a:r>
            <a:r>
              <a:rPr lang="en-US" sz="2000" b="1" dirty="0"/>
              <a:t>gaps</a:t>
            </a:r>
            <a:r>
              <a:rPr lang="en-US" sz="2000" dirty="0"/>
              <a:t> in the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Autoencoders </a:t>
            </a:r>
            <a:r>
              <a:rPr lang="en-US" sz="2000" b="1" dirty="0"/>
              <a:t>fill in the blanks</a:t>
            </a:r>
            <a:r>
              <a:rPr lang="en-US" sz="2000" dirty="0"/>
              <a:t> by predicting missing ratings based on the user’s preferences.</a:t>
            </a:r>
          </a:p>
          <a:p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If you’ve rated </a:t>
            </a:r>
            <a:r>
              <a:rPr lang="en-US" sz="2000" b="1" dirty="0"/>
              <a:t>10 movies</a:t>
            </a:r>
            <a:r>
              <a:rPr lang="en-US" sz="2000" dirty="0"/>
              <a:t> but skipped rating a few others, an autoencoder can estimate what rating you </a:t>
            </a:r>
            <a:r>
              <a:rPr lang="en-US" sz="2000" b="1" dirty="0"/>
              <a:t>would have given</a:t>
            </a:r>
            <a:r>
              <a:rPr lang="en-US" sz="2000" dirty="0"/>
              <a:t> and use that to recommend movies.</a:t>
            </a:r>
          </a:p>
          <a:p>
            <a:endParaRPr lang="en-US" sz="2000" dirty="0"/>
          </a:p>
          <a:p>
            <a:r>
              <a:rPr lang="en-US" sz="2000" b="1" dirty="0"/>
              <a:t>Making More Accurate &amp; Personalized Recommendations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Autoencoders learn deep patterns in the data that simpler models might </a:t>
            </a:r>
            <a:r>
              <a:rPr lang="en-US" sz="2000" b="1" dirty="0"/>
              <a:t>miss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This leads to </a:t>
            </a:r>
            <a:r>
              <a:rPr lang="en-US" sz="2000" b="1" dirty="0"/>
              <a:t>better, more personalized suggestions</a:t>
            </a:r>
            <a:r>
              <a:rPr lang="en-US" sz="2000" dirty="0"/>
              <a:t>.</a:t>
            </a:r>
          </a:p>
          <a:p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If you’ve watched a mix of </a:t>
            </a:r>
            <a:r>
              <a:rPr lang="en-US" sz="2000" b="1" dirty="0"/>
              <a:t>historical dramas, sci-fi, and fantasy movies</a:t>
            </a:r>
            <a:r>
              <a:rPr lang="en-US" sz="2000" dirty="0"/>
              <a:t>, the autoencoder might recommend something that blends all three—like a </a:t>
            </a:r>
            <a:r>
              <a:rPr lang="en-US" sz="2000" b="1" dirty="0"/>
              <a:t>time-travel fantasy movie</a:t>
            </a:r>
          </a:p>
          <a:p>
            <a:endParaRPr lang="en-US" sz="2000" b="1" dirty="0"/>
          </a:p>
          <a:p>
            <a:r>
              <a:rPr lang="en-US" sz="2000" b="1" dirty="0"/>
              <a:t>Advantages of Autoencoders in Recommender Systems:</a:t>
            </a:r>
          </a:p>
          <a:p>
            <a:r>
              <a:rPr lang="en-US" sz="2000" dirty="0"/>
              <a:t> </a:t>
            </a:r>
            <a:r>
              <a:rPr lang="en-US" sz="2000" b="1" dirty="0"/>
              <a:t>Learns hidden patterns</a:t>
            </a:r>
            <a:r>
              <a:rPr lang="en-US" sz="2000" dirty="0"/>
              <a:t> – Detects relationships between users and items.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Handles missing data</a:t>
            </a:r>
            <a:r>
              <a:rPr lang="en-US" sz="2000" dirty="0"/>
              <a:t> – Predicts ratings even when data is incomplete.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More personalized recommendations</a:t>
            </a:r>
            <a:r>
              <a:rPr lang="en-US" sz="2000" dirty="0"/>
              <a:t> – Provides </a:t>
            </a:r>
            <a:r>
              <a:rPr lang="en-US" sz="2000" b="1" dirty="0"/>
              <a:t>smarter</a:t>
            </a:r>
            <a:r>
              <a:rPr lang="en-US" sz="2000" dirty="0"/>
              <a:t>, </a:t>
            </a:r>
            <a:r>
              <a:rPr lang="en-US" sz="2000" b="1" dirty="0"/>
              <a:t>less obvious</a:t>
            </a:r>
            <a:r>
              <a:rPr lang="en-US" sz="2000" dirty="0"/>
              <a:t> suggestions.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27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C2312-FF28-304C-BD53-FBA2F2029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05790C-936B-FFEA-7D60-0806905FBEDA}"/>
              </a:ext>
            </a:extLst>
          </p:cNvPr>
          <p:cNvSpPr txBox="1"/>
          <p:nvPr/>
        </p:nvSpPr>
        <p:spPr>
          <a:xfrm>
            <a:off x="1420837" y="323556"/>
            <a:ext cx="952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Graph Neural Networks (GNNs) in Recommender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D7AC9-7C1B-DB78-5561-BB0BD81CF757}"/>
              </a:ext>
            </a:extLst>
          </p:cNvPr>
          <p:cNvSpPr txBox="1"/>
          <p:nvPr/>
        </p:nvSpPr>
        <p:spPr>
          <a:xfrm>
            <a:off x="492369" y="723666"/>
            <a:ext cx="11029071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Graph Neural Network (GNN)</a:t>
            </a:r>
            <a:r>
              <a:rPr lang="en-US" sz="2000" dirty="0"/>
              <a:t> is a type of </a:t>
            </a:r>
            <a:r>
              <a:rPr lang="en-US" sz="2000" b="1" dirty="0"/>
              <a:t>deep learning model</a:t>
            </a:r>
            <a:r>
              <a:rPr lang="en-US" sz="2000" dirty="0"/>
              <a:t> designed to work with </a:t>
            </a:r>
            <a:r>
              <a:rPr lang="en-US" sz="2000" b="1" dirty="0"/>
              <a:t>graphs</a:t>
            </a:r>
            <a:r>
              <a:rPr lang="en-US" sz="2000" dirty="0"/>
              <a:t>—a way of representing data as </a:t>
            </a:r>
            <a:r>
              <a:rPr lang="en-US" sz="2000" b="1" dirty="0"/>
              <a:t>connected relationships</a:t>
            </a:r>
            <a:r>
              <a:rPr lang="en-US" sz="2000" dirty="0"/>
              <a:t>.</a:t>
            </a:r>
          </a:p>
          <a:p>
            <a:r>
              <a:rPr lang="en-US" sz="2000" dirty="0"/>
              <a:t>Think of it like a </a:t>
            </a:r>
            <a:r>
              <a:rPr lang="en-US" sz="2000" b="1" dirty="0"/>
              <a:t>social network</a:t>
            </a:r>
            <a:r>
              <a:rPr lang="en-US" sz="2000" dirty="0"/>
              <a:t> where:</a:t>
            </a:r>
            <a:br>
              <a:rPr lang="en-US" sz="2000" dirty="0"/>
            </a:br>
            <a:r>
              <a:rPr lang="en-US" sz="2000" dirty="0"/>
              <a:t>✔ People (users) are </a:t>
            </a:r>
            <a:r>
              <a:rPr lang="en-US" sz="2000" b="1" dirty="0"/>
              <a:t>nodes</a:t>
            </a:r>
            <a:br>
              <a:rPr lang="en-US" sz="2000" dirty="0"/>
            </a:br>
            <a:r>
              <a:rPr lang="en-US" sz="2000" dirty="0"/>
              <a:t>✔ Friendships (connections) are </a:t>
            </a:r>
            <a:r>
              <a:rPr lang="en-US" sz="2000" b="1" dirty="0"/>
              <a:t>edges</a:t>
            </a:r>
            <a:endParaRPr lang="en-US" sz="2000" dirty="0"/>
          </a:p>
          <a:p>
            <a:r>
              <a:rPr lang="en-US" sz="2000" dirty="0"/>
              <a:t>GNNs analyze these relationships to </a:t>
            </a:r>
            <a:r>
              <a:rPr lang="en-US" sz="2000" b="1" dirty="0"/>
              <a:t>find patterns and make predictions</a:t>
            </a:r>
            <a:r>
              <a:rPr lang="en-US" sz="2000" dirty="0"/>
              <a:t>.</a:t>
            </a:r>
          </a:p>
          <a:p>
            <a:r>
              <a:rPr lang="en-US" sz="2000" b="1" dirty="0"/>
              <a:t>How GNNs Help in Recommender Systems:</a:t>
            </a:r>
          </a:p>
          <a:p>
            <a:r>
              <a:rPr lang="en-US" sz="2000" dirty="0"/>
              <a:t>Recommender systems can be viewed as a </a:t>
            </a:r>
            <a:r>
              <a:rPr lang="en-US" sz="2000" b="1" dirty="0"/>
              <a:t>graph</a:t>
            </a:r>
            <a:r>
              <a:rPr lang="en-US" sz="2000" dirty="0"/>
              <a:t>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Users</a:t>
            </a:r>
            <a:r>
              <a:rPr lang="en-US" sz="2000" dirty="0"/>
              <a:t> and </a:t>
            </a:r>
            <a:r>
              <a:rPr lang="en-US" sz="2000" b="1" dirty="0"/>
              <a:t>items (movies, products, etc.)</a:t>
            </a:r>
            <a:r>
              <a:rPr lang="en-US" sz="2000" dirty="0"/>
              <a:t> are </a:t>
            </a:r>
            <a:r>
              <a:rPr lang="en-US" sz="2000" b="1" dirty="0"/>
              <a:t>nodes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Interactions (clicks, ratings, purchases)</a:t>
            </a:r>
            <a:r>
              <a:rPr lang="en-US" sz="2000" dirty="0"/>
              <a:t> are </a:t>
            </a:r>
            <a:r>
              <a:rPr lang="en-US" sz="2000" b="1" dirty="0"/>
              <a:t>edges</a:t>
            </a:r>
            <a:endParaRPr lang="en-US" sz="2000" dirty="0"/>
          </a:p>
          <a:p>
            <a:r>
              <a:rPr lang="en-US" sz="2000" dirty="0"/>
              <a:t>GNNs analyze these </a:t>
            </a:r>
            <a:r>
              <a:rPr lang="en-US" sz="2000" b="1" dirty="0"/>
              <a:t>connections</a:t>
            </a:r>
            <a:r>
              <a:rPr lang="en-US" sz="2000" dirty="0"/>
              <a:t> to make better recommendations.</a:t>
            </a:r>
          </a:p>
          <a:p>
            <a:r>
              <a:rPr lang="en-US" sz="2000" b="1" dirty="0"/>
              <a:t>1. Finding Indirect Relationships for Better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GNNs can </a:t>
            </a:r>
            <a:r>
              <a:rPr lang="en-US" sz="2000" b="1" dirty="0"/>
              <a:t>find deeper connections</a:t>
            </a:r>
            <a:r>
              <a:rPr lang="en-US" sz="2000" dirty="0"/>
              <a:t> between users and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Even if two users </a:t>
            </a:r>
            <a:r>
              <a:rPr lang="en-US" sz="2000" b="1" dirty="0"/>
              <a:t>haven’t rated the same movies</a:t>
            </a:r>
            <a:r>
              <a:rPr lang="en-US" sz="2000" dirty="0"/>
              <a:t>, they might have </a:t>
            </a:r>
            <a:r>
              <a:rPr lang="en-US" sz="2000" b="1" dirty="0"/>
              <a:t>similar preferences</a:t>
            </a:r>
            <a:r>
              <a:rPr lang="en-US" sz="2000" dirty="0"/>
              <a:t> through mutual connections.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b="1" dirty="0"/>
              <a:t>Example: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If </a:t>
            </a:r>
            <a:r>
              <a:rPr lang="en-US" sz="2000" b="1" dirty="0"/>
              <a:t>User </a:t>
            </a:r>
            <a:r>
              <a:rPr lang="en-US" sz="2000" b="1"/>
              <a:t>A</a:t>
            </a:r>
            <a:r>
              <a:rPr lang="en-US" sz="2000"/>
              <a:t> likes </a:t>
            </a:r>
            <a:r>
              <a:rPr lang="en-US" sz="2000" b="1" dirty="0"/>
              <a:t>mystery movies</a:t>
            </a:r>
            <a:r>
              <a:rPr lang="en-US" sz="2000" dirty="0"/>
              <a:t> and also </a:t>
            </a:r>
            <a:r>
              <a:rPr lang="en-US" sz="2000" b="1" dirty="0"/>
              <a:t>likes Actor X</a:t>
            </a:r>
            <a:r>
              <a:rPr lang="en-US" sz="2000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And </a:t>
            </a:r>
            <a:r>
              <a:rPr lang="en-US" sz="2000" b="1" dirty="0"/>
              <a:t>User B</a:t>
            </a:r>
            <a:r>
              <a:rPr lang="en-US" sz="2000" dirty="0"/>
              <a:t> also likes </a:t>
            </a:r>
            <a:r>
              <a:rPr lang="en-US" sz="2000" b="1" dirty="0"/>
              <a:t>Actor X</a:t>
            </a:r>
            <a:r>
              <a:rPr lang="en-US" sz="2000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GNNs might </a:t>
            </a:r>
            <a:r>
              <a:rPr lang="en-US" sz="2000" b="1" dirty="0"/>
              <a:t>recommend mystery movies</a:t>
            </a:r>
            <a:r>
              <a:rPr lang="en-US" sz="2000" dirty="0"/>
              <a:t> to </a:t>
            </a:r>
            <a:r>
              <a:rPr lang="en-US" sz="2000" b="1" dirty="0"/>
              <a:t>User B</a:t>
            </a:r>
            <a:r>
              <a:rPr lang="en-US" sz="2000" dirty="0"/>
              <a:t>, even though they never watched one before.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477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5EBB-22E1-9941-CC28-128D256E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E6BB45-B19F-B827-7B2C-C27A9B601967}"/>
              </a:ext>
            </a:extLst>
          </p:cNvPr>
          <p:cNvSpPr txBox="1"/>
          <p:nvPr/>
        </p:nvSpPr>
        <p:spPr>
          <a:xfrm>
            <a:off x="464233" y="379828"/>
            <a:ext cx="11029071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Understanding Complex User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Instead of just looking at </a:t>
            </a:r>
            <a:r>
              <a:rPr lang="en-US" sz="2000" b="1" dirty="0"/>
              <a:t>individual preferences</a:t>
            </a:r>
            <a:r>
              <a:rPr lang="en-US" sz="2000" dirty="0"/>
              <a:t>, GNNs analyze </a:t>
            </a:r>
            <a:r>
              <a:rPr lang="en-US" sz="2000" b="1" dirty="0"/>
              <a:t>how users interact</a:t>
            </a:r>
            <a:r>
              <a:rPr lang="en-US" sz="2000" dirty="0"/>
              <a:t> within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This leads to </a:t>
            </a:r>
            <a:r>
              <a:rPr lang="en-US" sz="2000" b="1" dirty="0"/>
              <a:t>more accurate, personalized recommendations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b="1" dirty="0"/>
              <a:t>Example: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If you usually </a:t>
            </a:r>
            <a:r>
              <a:rPr lang="en-US" sz="2000" b="1" dirty="0"/>
              <a:t>watch superhero movies</a:t>
            </a:r>
            <a:r>
              <a:rPr lang="en-US" sz="2000" dirty="0"/>
              <a:t> but suddenly start exploring </a:t>
            </a:r>
            <a:r>
              <a:rPr lang="en-US" sz="2000" b="1" dirty="0"/>
              <a:t>sci-fi</a:t>
            </a:r>
            <a:r>
              <a:rPr lang="en-US" sz="2000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GNNs </a:t>
            </a:r>
            <a:r>
              <a:rPr lang="en-US" sz="2000" b="1" dirty="0"/>
              <a:t>detect this shift</a:t>
            </a:r>
            <a:r>
              <a:rPr lang="en-US" sz="2000" dirty="0"/>
              <a:t> and start recommending </a:t>
            </a:r>
            <a:r>
              <a:rPr lang="en-US" sz="2000" b="1" dirty="0"/>
              <a:t>sci-fi superhero movies</a:t>
            </a:r>
            <a:r>
              <a:rPr lang="en-US" sz="2000" dirty="0"/>
              <a:t> instead of just regular superhero films.</a:t>
            </a:r>
          </a:p>
          <a:p>
            <a:r>
              <a:rPr lang="en-US" sz="2000" b="1" dirty="0"/>
              <a:t>Handling Sparse Data (Cold Start Problem)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Many users or items have </a:t>
            </a:r>
            <a:r>
              <a:rPr lang="en-US" sz="2000" b="1" dirty="0"/>
              <a:t>little to no data</a:t>
            </a:r>
            <a:r>
              <a:rPr lang="en-US" sz="2000" dirty="0"/>
              <a:t> (e.g., a </a:t>
            </a:r>
            <a:r>
              <a:rPr lang="en-US" sz="2000" b="1" dirty="0"/>
              <a:t>new user</a:t>
            </a:r>
            <a:r>
              <a:rPr lang="en-US" sz="2000" dirty="0"/>
              <a:t> or a </a:t>
            </a:r>
            <a:r>
              <a:rPr lang="en-US" sz="2000" b="1" dirty="0"/>
              <a:t>new product</a:t>
            </a:r>
            <a:r>
              <a:rPr lang="en-US" sz="20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GNNs </a:t>
            </a:r>
            <a:r>
              <a:rPr lang="en-US" sz="2000" b="1" dirty="0"/>
              <a:t>fill in the gaps</a:t>
            </a:r>
            <a:r>
              <a:rPr lang="en-US" sz="2000" dirty="0"/>
              <a:t> by looking at the </a:t>
            </a:r>
            <a:r>
              <a:rPr lang="en-US" sz="2000" b="1" dirty="0"/>
              <a:t>connections</a:t>
            </a:r>
            <a:r>
              <a:rPr lang="en-US" sz="2000" dirty="0"/>
              <a:t> to similar users or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Example: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If </a:t>
            </a:r>
            <a:r>
              <a:rPr lang="en-US" sz="2000" b="1" dirty="0"/>
              <a:t>a new Netflix user</a:t>
            </a:r>
            <a:r>
              <a:rPr lang="en-US" sz="2000" dirty="0"/>
              <a:t> has only rated a few movies,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GNNs check what similar users (with similar interactions) like,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And it recommends movies accordingly—even without a lot of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Advantages of GNNs in Recommender Systems:</a:t>
            </a:r>
          </a:p>
          <a:p>
            <a:r>
              <a:rPr lang="en-US" sz="2000" b="1" dirty="0"/>
              <a:t>Finds deeper relationships</a:t>
            </a:r>
            <a:r>
              <a:rPr lang="en-US" sz="2000" dirty="0"/>
              <a:t> – Goes beyond direct preferences to uncover hidden connections.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More accurate recommendations</a:t>
            </a:r>
            <a:r>
              <a:rPr lang="en-US" sz="2000" dirty="0"/>
              <a:t> – Learns from the entire network of users and items.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Works well with sparse data</a:t>
            </a:r>
            <a:r>
              <a:rPr lang="en-US" sz="2000" dirty="0"/>
              <a:t> – Helps with cold start problems for new users or items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13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DB364-E19A-7B4C-C8C4-A77DFA25A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DF512D-551C-D539-4851-FCC6059626F9}"/>
              </a:ext>
            </a:extLst>
          </p:cNvPr>
          <p:cNvSpPr txBox="1"/>
          <p:nvPr/>
        </p:nvSpPr>
        <p:spPr>
          <a:xfrm>
            <a:off x="576775" y="196947"/>
            <a:ext cx="11127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Hybrid Recommender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37DB1-4693-3493-6A9E-3DBF546BEAD1}"/>
              </a:ext>
            </a:extLst>
          </p:cNvPr>
          <p:cNvSpPr txBox="1"/>
          <p:nvPr/>
        </p:nvSpPr>
        <p:spPr>
          <a:xfrm>
            <a:off x="576775" y="759655"/>
            <a:ext cx="11127546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Instead of relying on just </a:t>
            </a:r>
            <a:r>
              <a:rPr lang="en-US" sz="2000" b="1" dirty="0"/>
              <a:t>one method</a:t>
            </a:r>
            <a:r>
              <a:rPr lang="en-US" sz="2000" dirty="0"/>
              <a:t> to make recommendations, it </a:t>
            </a:r>
            <a:r>
              <a:rPr lang="en-US" sz="2000" b="1" dirty="0"/>
              <a:t>combines multiple techniques</a:t>
            </a:r>
            <a:r>
              <a:rPr lang="en-US" sz="2000" dirty="0"/>
              <a:t> to give </a:t>
            </a:r>
            <a:r>
              <a:rPr lang="en-US" sz="2000" b="1" dirty="0"/>
              <a:t>more accurate and diverse suggestions</a:t>
            </a:r>
            <a:r>
              <a:rPr lang="en-US" sz="2000" dirty="0"/>
              <a:t>.</a:t>
            </a:r>
          </a:p>
          <a:p>
            <a:r>
              <a:rPr lang="en-US" sz="2000" b="1" dirty="0"/>
              <a:t>Why Use Hybrid Recommender Systems?</a:t>
            </a:r>
          </a:p>
          <a:p>
            <a:r>
              <a:rPr lang="en-US" sz="2000" dirty="0"/>
              <a:t>Each recommendation method has its </a:t>
            </a:r>
            <a:r>
              <a:rPr lang="en-US" sz="2000" b="1" dirty="0"/>
              <a:t>strengths and weaknesses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✔ </a:t>
            </a:r>
            <a:r>
              <a:rPr lang="en-US" sz="2000" b="1" dirty="0"/>
              <a:t>Collaborative Filtering</a:t>
            </a:r>
            <a:r>
              <a:rPr lang="en-US" sz="2000" dirty="0"/>
              <a:t> (CF) – Works well but struggles with </a:t>
            </a:r>
            <a:r>
              <a:rPr lang="en-US" sz="2000" b="1" dirty="0"/>
              <a:t>new users/items</a:t>
            </a:r>
            <a:r>
              <a:rPr lang="en-US" sz="2000" dirty="0"/>
              <a:t> (cold start problem).</a:t>
            </a:r>
            <a:br>
              <a:rPr lang="en-US" sz="2000" dirty="0"/>
            </a:br>
            <a:r>
              <a:rPr lang="en-US" sz="2000" dirty="0"/>
              <a:t>✔ </a:t>
            </a:r>
            <a:r>
              <a:rPr lang="en-US" sz="2000" b="1" dirty="0"/>
              <a:t>Content-Based Filtering</a:t>
            </a:r>
            <a:r>
              <a:rPr lang="en-US" sz="2000" dirty="0"/>
              <a:t> – Understands item features but may become </a:t>
            </a:r>
            <a:r>
              <a:rPr lang="en-US" sz="2000" b="1" dirty="0"/>
              <a:t>too repetitive</a:t>
            </a:r>
            <a:r>
              <a:rPr lang="en-US" sz="2000" dirty="0"/>
              <a:t> (over-specialization).</a:t>
            </a:r>
            <a:br>
              <a:rPr lang="en-US" sz="2000" dirty="0"/>
            </a:br>
            <a:r>
              <a:rPr lang="en-US" sz="2000" dirty="0"/>
              <a:t>✔ </a:t>
            </a:r>
            <a:r>
              <a:rPr lang="en-US" sz="2000" b="1" dirty="0"/>
              <a:t>Deep Learning</a:t>
            </a:r>
            <a:r>
              <a:rPr lang="en-US" sz="2000" dirty="0"/>
              <a:t> – Learns complex patterns but needs </a:t>
            </a:r>
            <a:r>
              <a:rPr lang="en-US" sz="2000" b="1" dirty="0"/>
              <a:t>lots of data</a:t>
            </a:r>
            <a:r>
              <a:rPr lang="en-US" sz="2000" dirty="0"/>
              <a:t>.</a:t>
            </a:r>
          </a:p>
          <a:p>
            <a:r>
              <a:rPr lang="en-US" sz="2000" dirty="0"/>
              <a:t>By combining these methods, </a:t>
            </a:r>
            <a:r>
              <a:rPr lang="en-US" sz="2000" b="1" dirty="0"/>
              <a:t>hybrid systems</a:t>
            </a:r>
            <a:r>
              <a:rPr lang="en-US" sz="2000" dirty="0"/>
              <a:t> create </a:t>
            </a:r>
            <a:r>
              <a:rPr lang="en-US" sz="2000" b="1" dirty="0"/>
              <a:t>better recommendations</a:t>
            </a:r>
            <a:r>
              <a:rPr lang="en-US" sz="2000" dirty="0"/>
              <a:t> than using just one approach!</a:t>
            </a:r>
          </a:p>
          <a:p>
            <a:r>
              <a:rPr lang="en-US" sz="2000" b="1" dirty="0"/>
              <a:t>How Hybrid Recommender Systems Work</a:t>
            </a:r>
          </a:p>
          <a:p>
            <a:r>
              <a:rPr lang="en-US" sz="2000" dirty="0"/>
              <a:t>Hybrid systems can </a:t>
            </a:r>
            <a:r>
              <a:rPr lang="en-US" sz="2000" b="1" dirty="0"/>
              <a:t>combine methods in different ways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1️⃣ </a:t>
            </a:r>
            <a:r>
              <a:rPr lang="en-US" sz="2000" b="1" dirty="0"/>
              <a:t>Blending</a:t>
            </a:r>
            <a:r>
              <a:rPr lang="en-US" sz="2000" dirty="0"/>
              <a:t> – Using two methods together and averaging the results.</a:t>
            </a:r>
            <a:br>
              <a:rPr lang="en-US" sz="2000" dirty="0"/>
            </a:br>
            <a:r>
              <a:rPr lang="en-US" sz="2000" dirty="0"/>
              <a:t>2️⃣ </a:t>
            </a:r>
            <a:r>
              <a:rPr lang="en-US" sz="2000" b="1" dirty="0"/>
              <a:t>Switching</a:t>
            </a:r>
            <a:r>
              <a:rPr lang="en-US" sz="2000" dirty="0"/>
              <a:t> – Using one method when data is available and another when it’s missing.</a:t>
            </a:r>
            <a:br>
              <a:rPr lang="en-US" sz="2000" dirty="0"/>
            </a:br>
            <a:r>
              <a:rPr lang="en-US" sz="2000" dirty="0"/>
              <a:t>3️⃣ </a:t>
            </a:r>
            <a:r>
              <a:rPr lang="en-US" sz="2000" b="1" dirty="0"/>
              <a:t>Stacking</a:t>
            </a:r>
            <a:r>
              <a:rPr lang="en-US" sz="2000" dirty="0"/>
              <a:t> – Combining multiple models and using machine learning to decide the best recommendation.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375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93636-B52E-9F8D-A445-B01FF728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872BE5-81DD-8A81-7C1E-95B5C419FECB}"/>
              </a:ext>
            </a:extLst>
          </p:cNvPr>
          <p:cNvSpPr txBox="1"/>
          <p:nvPr/>
        </p:nvSpPr>
        <p:spPr>
          <a:xfrm>
            <a:off x="464234" y="253219"/>
            <a:ext cx="1116974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Imagine Netflix wants to </a:t>
            </a:r>
            <a:r>
              <a:rPr lang="en-US" sz="2000" b="1" dirty="0"/>
              <a:t>recommend a movie</a:t>
            </a:r>
            <a:r>
              <a:rPr lang="en-US" sz="2000" dirty="0"/>
              <a:t> to you. A </a:t>
            </a:r>
            <a:r>
              <a:rPr lang="en-US" sz="2000" b="1" dirty="0"/>
              <a:t>hybrid system</a:t>
            </a:r>
            <a:r>
              <a:rPr lang="en-US" sz="2000" dirty="0"/>
              <a:t> might: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</a:t>
            </a:r>
            <a:r>
              <a:rPr lang="en-US" sz="2000" b="1" dirty="0"/>
              <a:t>collaborative filtering</a:t>
            </a:r>
            <a:r>
              <a:rPr lang="en-US" sz="2000" dirty="0"/>
              <a:t> to find users </a:t>
            </a:r>
            <a:r>
              <a:rPr lang="en-US" sz="2000" b="1" dirty="0"/>
              <a:t>who like the same movies as you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</a:t>
            </a:r>
            <a:r>
              <a:rPr lang="en-US" sz="2000" b="1" dirty="0"/>
              <a:t>content-based filtering</a:t>
            </a:r>
            <a:r>
              <a:rPr lang="en-US" sz="2000" dirty="0"/>
              <a:t> to check </a:t>
            </a:r>
            <a:r>
              <a:rPr lang="en-US" sz="2000" b="1" dirty="0"/>
              <a:t>what kind of movies you prefer (genre, actors, director, etc.).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</a:t>
            </a:r>
            <a:r>
              <a:rPr lang="en-US" sz="2000" b="1" dirty="0"/>
              <a:t>deep learning</a:t>
            </a:r>
            <a:r>
              <a:rPr lang="en-US" sz="2000" dirty="0"/>
              <a:t> to find </a:t>
            </a:r>
            <a:r>
              <a:rPr lang="en-US" sz="2000" b="1" dirty="0"/>
              <a:t>hidden patterns in your viewing history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Then </a:t>
            </a:r>
            <a:r>
              <a:rPr lang="en-US" sz="2000" b="1" dirty="0"/>
              <a:t>combine all three</a:t>
            </a:r>
            <a:r>
              <a:rPr lang="en-US" sz="2000" dirty="0"/>
              <a:t> to give you the </a:t>
            </a:r>
            <a:r>
              <a:rPr lang="en-US" sz="2000" b="1" dirty="0"/>
              <a:t>best movie recommendation!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r>
              <a:rPr lang="en-US" sz="2000" b="1" dirty="0"/>
              <a:t>Advantages of Hybrid Recommender Systems</a:t>
            </a:r>
          </a:p>
          <a:p>
            <a:r>
              <a:rPr lang="en-US" sz="2000" b="1" dirty="0"/>
              <a:t>More accurate</a:t>
            </a:r>
            <a:r>
              <a:rPr lang="en-US" sz="2000" dirty="0"/>
              <a:t> – Combines the best of multiple methods.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Diverse recommendations</a:t>
            </a:r>
            <a:r>
              <a:rPr lang="en-US" sz="2000" dirty="0"/>
              <a:t> – Avoids repetitive suggestions.</a:t>
            </a:r>
            <a:br>
              <a:rPr lang="en-US" sz="2000" dirty="0"/>
            </a:br>
            <a:r>
              <a:rPr lang="en-US" sz="2000" b="1" dirty="0"/>
              <a:t>Solves cold start problems</a:t>
            </a:r>
            <a:r>
              <a:rPr lang="en-US" sz="2000" dirty="0"/>
              <a:t> – Works even with new users or items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103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6933C-0E43-DCB2-96EC-13EEB5BD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EA25-8A18-34BC-DADE-58A8C044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2679700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Thanks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08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2617</Words>
  <Application>Microsoft Office PowerPoint</Application>
  <PresentationFormat>Widescreen</PresentationFormat>
  <Paragraphs>161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Deepak Arora</dc:creator>
  <cp:lastModifiedBy>Deepak Arora</cp:lastModifiedBy>
  <cp:revision>22</cp:revision>
  <dcterms:created xsi:type="dcterms:W3CDTF">2025-02-06T04:29:49Z</dcterms:created>
  <dcterms:modified xsi:type="dcterms:W3CDTF">2025-02-26T15:03:05Z</dcterms:modified>
</cp:coreProperties>
</file>